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8"/>
    <p:sldId id="267" r:id="rId17"/>
    <p:sldId id="269" r:id="rId19"/>
  </p:sldIdLst>
  <p:sldSz cx="18288000" cy="10287000"/>
  <p:notesSz cx="6858000" cy="9144000"/>
  <p:embeddedFontLst>
    <p:embeddedFont>
      <p:font typeface="Chunk Five" charset="1" panose="00000500000000000000"/>
      <p:regular r:id="rId20"/>
    </p:embeddedFont>
    <p:embeddedFont>
      <p:font typeface="Anaktoria" charset="1" panose="02020602090805090A03"/>
      <p:regular r:id="rId21"/>
    </p:embeddedFont>
    <p:embeddedFont>
      <p:font typeface="Special Elite" charset="1" panose="02000506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33" Target="../media/image32.png" Type="http://schemas.openxmlformats.org/officeDocument/2006/relationships/image"/><Relationship Id="rId34" Target="../media/image33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2" Target="../media/image1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34.png" Type="http://schemas.openxmlformats.org/officeDocument/2006/relationships/image"/><Relationship Id="rId2" Target="../media/image1.jpeg" Type="http://schemas.openxmlformats.org/officeDocument/2006/relationships/image"/><Relationship Id="rId20" Target="../media/image35.sv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svg" Type="http://schemas.openxmlformats.org/officeDocument/2006/relationships/image"/><Relationship Id="rId11" Target="../media/image83.png" Type="http://schemas.openxmlformats.org/officeDocument/2006/relationships/image"/><Relationship Id="rId12" Target="../media/image84.svg" Type="http://schemas.openxmlformats.org/officeDocument/2006/relationships/image"/><Relationship Id="rId13" Target="../media/image85.png" Type="http://schemas.openxmlformats.org/officeDocument/2006/relationships/image"/><Relationship Id="rId14" Target="../media/image86.svg" Type="http://schemas.openxmlformats.org/officeDocument/2006/relationships/image"/><Relationship Id="rId15" Target="../media/image87.png" Type="http://schemas.openxmlformats.org/officeDocument/2006/relationships/image"/><Relationship Id="rId16" Target="../media/image88.svg" Type="http://schemas.openxmlformats.org/officeDocument/2006/relationships/image"/><Relationship Id="rId17" Target="../media/image89.png" Type="http://schemas.openxmlformats.org/officeDocument/2006/relationships/image"/><Relationship Id="rId18" Target="../media/image90.svg" Type="http://schemas.openxmlformats.org/officeDocument/2006/relationships/image"/><Relationship Id="rId19" Target="../media/image91.png" Type="http://schemas.openxmlformats.org/officeDocument/2006/relationships/image"/><Relationship Id="rId2" Target="../media/image74.jpeg" Type="http://schemas.openxmlformats.org/officeDocument/2006/relationships/image"/><Relationship Id="rId20" Target="../media/image92.svg" Type="http://schemas.openxmlformats.org/officeDocument/2006/relationships/image"/><Relationship Id="rId21" Target="../media/image93.png" Type="http://schemas.openxmlformats.org/officeDocument/2006/relationships/image"/><Relationship Id="rId22" Target="../media/image94.svg" Type="http://schemas.openxmlformats.org/officeDocument/2006/relationships/image"/><Relationship Id="rId23" Target="../media/image95.png" Type="http://schemas.openxmlformats.org/officeDocument/2006/relationships/image"/><Relationship Id="rId24" Target="../media/image96.svg" Type="http://schemas.openxmlformats.org/officeDocument/2006/relationships/image"/><Relationship Id="rId25" Target="../media/image97.png" Type="http://schemas.openxmlformats.org/officeDocument/2006/relationships/image"/><Relationship Id="rId26" Target="../media/image98.svg" Type="http://schemas.openxmlformats.org/officeDocument/2006/relationships/image"/><Relationship Id="rId27" Target="../media/image99.png" Type="http://schemas.openxmlformats.org/officeDocument/2006/relationships/image"/><Relationship Id="rId28" Target="../media/image100.svg" Type="http://schemas.openxmlformats.org/officeDocument/2006/relationships/image"/><Relationship Id="rId29" Target="../media/image101.png" Type="http://schemas.openxmlformats.org/officeDocument/2006/relationships/image"/><Relationship Id="rId3" Target="../media/image75.png" Type="http://schemas.openxmlformats.org/officeDocument/2006/relationships/image"/><Relationship Id="rId30" Target="../media/image102.sv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/Relationships>
</file>

<file path=ppt/slides/_rels/slide1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17" Target="../media/image14.png" Type="http://schemas.openxmlformats.org/officeDocument/2006/relationships/image"/><Relationship Id="rId18" Target="../media/image15.svg" Type="http://schemas.openxmlformats.org/officeDocument/2006/relationships/image"/><Relationship Id="rId19" Target="../media/image16.png" Type="http://schemas.openxmlformats.org/officeDocument/2006/relationships/image"/><Relationship Id="rId2" Target="../media/image1.jpeg" Type="http://schemas.openxmlformats.org/officeDocument/2006/relationships/image"/><Relationship Id="rId20" Target="../media/image17.svg" Type="http://schemas.openxmlformats.org/officeDocument/2006/relationships/image"/><Relationship Id="rId21" Target="../media/image18.png" Type="http://schemas.openxmlformats.org/officeDocument/2006/relationships/image"/><Relationship Id="rId22" Target="../media/image19.svg" Type="http://schemas.openxmlformats.org/officeDocument/2006/relationships/image"/><Relationship Id="rId23" Target="../media/image20.png" Type="http://schemas.openxmlformats.org/officeDocument/2006/relationships/image"/><Relationship Id="rId24" Target="../media/image21.svg" Type="http://schemas.openxmlformats.org/officeDocument/2006/relationships/image"/><Relationship Id="rId25" Target="../media/image22.png" Type="http://schemas.openxmlformats.org/officeDocument/2006/relationships/image"/><Relationship Id="rId26" Target="../media/image23.svg" Type="http://schemas.openxmlformats.org/officeDocument/2006/relationships/image"/><Relationship Id="rId27" Target="../media/image24.png" Type="http://schemas.openxmlformats.org/officeDocument/2006/relationships/image"/><Relationship Id="rId28" Target="../media/image25.svg" Type="http://schemas.openxmlformats.org/officeDocument/2006/relationships/image"/><Relationship Id="rId29" Target="../media/image26.png" Type="http://schemas.openxmlformats.org/officeDocument/2006/relationships/image"/><Relationship Id="rId3" Target="../media/image2.png" Type="http://schemas.openxmlformats.org/officeDocument/2006/relationships/image"/><Relationship Id="rId30" Target="../media/image27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71869" y="-351168"/>
            <a:ext cx="3301076" cy="2664869"/>
          </a:xfrm>
          <a:custGeom>
            <a:avLst/>
            <a:gdLst/>
            <a:ahLst/>
            <a:cxnLst/>
            <a:rect r="r" b="b" t="t" l="l"/>
            <a:pathLst>
              <a:path h="2664869" w="3301076">
                <a:moveTo>
                  <a:pt x="0" y="0"/>
                </a:moveTo>
                <a:lnTo>
                  <a:pt x="3301077" y="0"/>
                </a:lnTo>
                <a:lnTo>
                  <a:pt x="3301077" y="2664869"/>
                </a:lnTo>
                <a:lnTo>
                  <a:pt x="0" y="266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176118" y="-758534"/>
            <a:ext cx="2575665" cy="1971555"/>
          </a:xfrm>
          <a:custGeom>
            <a:avLst/>
            <a:gdLst/>
            <a:ahLst/>
            <a:cxnLst/>
            <a:rect r="r" b="b" t="t" l="l"/>
            <a:pathLst>
              <a:path h="1971555" w="2575665">
                <a:moveTo>
                  <a:pt x="2575665" y="0"/>
                </a:moveTo>
                <a:lnTo>
                  <a:pt x="0" y="0"/>
                </a:lnTo>
                <a:lnTo>
                  <a:pt x="0" y="1971554"/>
                </a:lnTo>
                <a:lnTo>
                  <a:pt x="2575665" y="1971554"/>
                </a:lnTo>
                <a:lnTo>
                  <a:pt x="25756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88570">
            <a:off x="-436229" y="-483928"/>
            <a:ext cx="4717614" cy="2624709"/>
          </a:xfrm>
          <a:custGeom>
            <a:avLst/>
            <a:gdLst/>
            <a:ahLst/>
            <a:cxnLst/>
            <a:rect r="r" b="b" t="t" l="l"/>
            <a:pathLst>
              <a:path h="2624709" w="4717614">
                <a:moveTo>
                  <a:pt x="0" y="0"/>
                </a:moveTo>
                <a:lnTo>
                  <a:pt x="4717615" y="0"/>
                </a:lnTo>
                <a:lnTo>
                  <a:pt x="4717615" y="2624709"/>
                </a:lnTo>
                <a:lnTo>
                  <a:pt x="0" y="2624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34456" y="7642705"/>
            <a:ext cx="4419088" cy="1219850"/>
            <a:chOff x="0" y="0"/>
            <a:chExt cx="5892118" cy="1626467"/>
          </a:xfrm>
        </p:grpSpPr>
        <p:sp>
          <p:nvSpPr>
            <p:cNvPr name="Freeform 7" id="7"/>
            <p:cNvSpPr/>
            <p:nvPr/>
          </p:nvSpPr>
          <p:spPr>
            <a:xfrm flipH="false" flipV="false" rot="-313401">
              <a:off x="54535" y="141775"/>
              <a:ext cx="3175870" cy="1342916"/>
            </a:xfrm>
            <a:custGeom>
              <a:avLst/>
              <a:gdLst/>
              <a:ahLst/>
              <a:cxnLst/>
              <a:rect r="r" b="b" t="t" l="l"/>
              <a:pathLst>
                <a:path h="1342916" w="3175870">
                  <a:moveTo>
                    <a:pt x="0" y="0"/>
                  </a:moveTo>
                  <a:lnTo>
                    <a:pt x="3175870" y="0"/>
                  </a:lnTo>
                  <a:lnTo>
                    <a:pt x="3175870" y="1342916"/>
                  </a:lnTo>
                  <a:lnTo>
                    <a:pt x="0" y="1342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1745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313401">
              <a:off x="3159192" y="119083"/>
              <a:ext cx="2677356" cy="1342916"/>
            </a:xfrm>
            <a:custGeom>
              <a:avLst/>
              <a:gdLst/>
              <a:ahLst/>
              <a:cxnLst/>
              <a:rect r="r" b="b" t="t" l="l"/>
              <a:pathLst>
                <a:path h="1342916" w="2677356">
                  <a:moveTo>
                    <a:pt x="0" y="0"/>
                  </a:moveTo>
                  <a:lnTo>
                    <a:pt x="2677356" y="0"/>
                  </a:lnTo>
                  <a:lnTo>
                    <a:pt x="2677356" y="1342916"/>
                  </a:lnTo>
                  <a:lnTo>
                    <a:pt x="0" y="1342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39328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true" flipV="false" rot="0">
            <a:off x="4575197" y="-351168"/>
            <a:ext cx="2333188" cy="1459303"/>
          </a:xfrm>
          <a:custGeom>
            <a:avLst/>
            <a:gdLst/>
            <a:ahLst/>
            <a:cxnLst/>
            <a:rect r="r" b="b" t="t" l="l"/>
            <a:pathLst>
              <a:path h="1459303" w="2333188">
                <a:moveTo>
                  <a:pt x="2333188" y="0"/>
                </a:moveTo>
                <a:lnTo>
                  <a:pt x="0" y="0"/>
                </a:lnTo>
                <a:lnTo>
                  <a:pt x="0" y="1459303"/>
                </a:lnTo>
                <a:lnTo>
                  <a:pt x="2333188" y="1459303"/>
                </a:lnTo>
                <a:lnTo>
                  <a:pt x="233318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928016" y="2552174"/>
            <a:ext cx="2131080" cy="1332893"/>
          </a:xfrm>
          <a:custGeom>
            <a:avLst/>
            <a:gdLst/>
            <a:ahLst/>
            <a:cxnLst/>
            <a:rect r="r" b="b" t="t" l="l"/>
            <a:pathLst>
              <a:path h="1332893" w="2131080">
                <a:moveTo>
                  <a:pt x="2131080" y="0"/>
                </a:moveTo>
                <a:lnTo>
                  <a:pt x="0" y="0"/>
                </a:lnTo>
                <a:lnTo>
                  <a:pt x="0" y="1332893"/>
                </a:lnTo>
                <a:lnTo>
                  <a:pt x="2131080" y="1332893"/>
                </a:lnTo>
                <a:lnTo>
                  <a:pt x="213108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986302">
            <a:off x="11808618" y="-62411"/>
            <a:ext cx="2909455" cy="881789"/>
          </a:xfrm>
          <a:custGeom>
            <a:avLst/>
            <a:gdLst/>
            <a:ahLst/>
            <a:cxnLst/>
            <a:rect r="r" b="b" t="t" l="l"/>
            <a:pathLst>
              <a:path h="881789" w="2909455">
                <a:moveTo>
                  <a:pt x="0" y="0"/>
                </a:moveTo>
                <a:lnTo>
                  <a:pt x="2909455" y="0"/>
                </a:lnTo>
                <a:lnTo>
                  <a:pt x="2909455" y="881789"/>
                </a:lnTo>
                <a:lnTo>
                  <a:pt x="0" y="8817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06039" y="227837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0" y="0"/>
                </a:moveTo>
                <a:lnTo>
                  <a:pt x="2817429" y="0"/>
                </a:lnTo>
                <a:lnTo>
                  <a:pt x="2817429" y="927389"/>
                </a:lnTo>
                <a:lnTo>
                  <a:pt x="0" y="9273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495830">
            <a:off x="15406379" y="6774649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2817430" y="0"/>
                </a:moveTo>
                <a:lnTo>
                  <a:pt x="0" y="0"/>
                </a:lnTo>
                <a:lnTo>
                  <a:pt x="0" y="927389"/>
                </a:lnTo>
                <a:lnTo>
                  <a:pt x="2817430" y="927389"/>
                </a:lnTo>
                <a:lnTo>
                  <a:pt x="281743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73833">
            <a:off x="-3803923" y="3445067"/>
            <a:ext cx="5963772" cy="2914770"/>
          </a:xfrm>
          <a:custGeom>
            <a:avLst/>
            <a:gdLst/>
            <a:ahLst/>
            <a:cxnLst/>
            <a:rect r="r" b="b" t="t" l="l"/>
            <a:pathLst>
              <a:path h="2914770" w="5963772">
                <a:moveTo>
                  <a:pt x="0" y="0"/>
                </a:moveTo>
                <a:lnTo>
                  <a:pt x="5963772" y="0"/>
                </a:lnTo>
                <a:lnTo>
                  <a:pt x="5963772" y="2914770"/>
                </a:lnTo>
                <a:lnTo>
                  <a:pt x="0" y="29147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9206296">
            <a:off x="-646628" y="9444939"/>
            <a:ext cx="3031695" cy="918837"/>
          </a:xfrm>
          <a:custGeom>
            <a:avLst/>
            <a:gdLst/>
            <a:ahLst/>
            <a:cxnLst/>
            <a:rect r="r" b="b" t="t" l="l"/>
            <a:pathLst>
              <a:path h="918837" w="3031695">
                <a:moveTo>
                  <a:pt x="0" y="0"/>
                </a:moveTo>
                <a:lnTo>
                  <a:pt x="3031695" y="0"/>
                </a:lnTo>
                <a:lnTo>
                  <a:pt x="3031695" y="918836"/>
                </a:lnTo>
                <a:lnTo>
                  <a:pt x="0" y="9188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005773">
            <a:off x="1738677" y="5770587"/>
            <a:ext cx="1745426" cy="910795"/>
          </a:xfrm>
          <a:custGeom>
            <a:avLst/>
            <a:gdLst/>
            <a:ahLst/>
            <a:cxnLst/>
            <a:rect r="r" b="b" t="t" l="l"/>
            <a:pathLst>
              <a:path h="910795" w="1745426">
                <a:moveTo>
                  <a:pt x="0" y="0"/>
                </a:moveTo>
                <a:lnTo>
                  <a:pt x="1745426" y="0"/>
                </a:lnTo>
                <a:lnTo>
                  <a:pt x="1745426" y="910795"/>
                </a:lnTo>
                <a:lnTo>
                  <a:pt x="0" y="91079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46064">
            <a:off x="-260264" y="5745884"/>
            <a:ext cx="2325704" cy="3644266"/>
          </a:xfrm>
          <a:custGeom>
            <a:avLst/>
            <a:gdLst/>
            <a:ahLst/>
            <a:cxnLst/>
            <a:rect r="r" b="b" t="t" l="l"/>
            <a:pathLst>
              <a:path h="3644266" w="2325704">
                <a:moveTo>
                  <a:pt x="0" y="0"/>
                </a:moveTo>
                <a:lnTo>
                  <a:pt x="2325704" y="0"/>
                </a:lnTo>
                <a:lnTo>
                  <a:pt x="2325704" y="3644266"/>
                </a:lnTo>
                <a:lnTo>
                  <a:pt x="0" y="3644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5858365" y="3787797"/>
            <a:ext cx="3745673" cy="3125935"/>
          </a:xfrm>
          <a:custGeom>
            <a:avLst/>
            <a:gdLst/>
            <a:ahLst/>
            <a:cxnLst/>
            <a:rect r="r" b="b" t="t" l="l"/>
            <a:pathLst>
              <a:path h="3125935" w="3745673">
                <a:moveTo>
                  <a:pt x="0" y="0"/>
                </a:moveTo>
                <a:lnTo>
                  <a:pt x="3745673" y="0"/>
                </a:lnTo>
                <a:lnTo>
                  <a:pt x="3745673" y="3125934"/>
                </a:lnTo>
                <a:lnTo>
                  <a:pt x="0" y="312593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-1832525">
            <a:off x="15083234" y="8377855"/>
            <a:ext cx="3729750" cy="1986939"/>
          </a:xfrm>
          <a:custGeom>
            <a:avLst/>
            <a:gdLst/>
            <a:ahLst/>
            <a:cxnLst/>
            <a:rect r="r" b="b" t="t" l="l"/>
            <a:pathLst>
              <a:path h="1986939" w="3729750">
                <a:moveTo>
                  <a:pt x="0" y="0"/>
                </a:moveTo>
                <a:lnTo>
                  <a:pt x="3729749" y="0"/>
                </a:lnTo>
                <a:lnTo>
                  <a:pt x="3729749" y="1986939"/>
                </a:lnTo>
                <a:lnTo>
                  <a:pt x="0" y="198693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489347" y="9723742"/>
            <a:ext cx="3262436" cy="1126516"/>
          </a:xfrm>
          <a:custGeom>
            <a:avLst/>
            <a:gdLst/>
            <a:ahLst/>
            <a:cxnLst/>
            <a:rect r="r" b="b" t="t" l="l"/>
            <a:pathLst>
              <a:path h="1126516" w="3262436">
                <a:moveTo>
                  <a:pt x="0" y="0"/>
                </a:moveTo>
                <a:lnTo>
                  <a:pt x="3262436" y="0"/>
                </a:lnTo>
                <a:lnTo>
                  <a:pt x="3262436" y="1126516"/>
                </a:lnTo>
                <a:lnTo>
                  <a:pt x="0" y="112651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34655">
            <a:off x="2767138" y="7850451"/>
            <a:ext cx="3406702" cy="1930298"/>
          </a:xfrm>
          <a:custGeom>
            <a:avLst/>
            <a:gdLst/>
            <a:ahLst/>
            <a:cxnLst/>
            <a:rect r="r" b="b" t="t" l="l"/>
            <a:pathLst>
              <a:path h="1930298" w="3406702">
                <a:moveTo>
                  <a:pt x="0" y="0"/>
                </a:moveTo>
                <a:lnTo>
                  <a:pt x="3406702" y="0"/>
                </a:lnTo>
                <a:lnTo>
                  <a:pt x="3406702" y="1930298"/>
                </a:lnTo>
                <a:lnTo>
                  <a:pt x="0" y="193029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2496544" y="6981381"/>
            <a:ext cx="1999282" cy="3868877"/>
          </a:xfrm>
          <a:custGeom>
            <a:avLst/>
            <a:gdLst/>
            <a:ahLst/>
            <a:cxnLst/>
            <a:rect r="r" b="b" t="t" l="l"/>
            <a:pathLst>
              <a:path h="3868877" w="1999282">
                <a:moveTo>
                  <a:pt x="0" y="0"/>
                </a:moveTo>
                <a:lnTo>
                  <a:pt x="1999282" y="0"/>
                </a:lnTo>
                <a:lnTo>
                  <a:pt x="1999282" y="3868877"/>
                </a:lnTo>
                <a:lnTo>
                  <a:pt x="0" y="386887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-133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2069976" y="8979548"/>
            <a:ext cx="2505221" cy="1940408"/>
          </a:xfrm>
          <a:custGeom>
            <a:avLst/>
            <a:gdLst/>
            <a:ahLst/>
            <a:cxnLst/>
            <a:rect r="r" b="b" t="t" l="l"/>
            <a:pathLst>
              <a:path h="1940408" w="2505221">
                <a:moveTo>
                  <a:pt x="0" y="0"/>
                </a:moveTo>
                <a:lnTo>
                  <a:pt x="2505221" y="0"/>
                </a:lnTo>
                <a:lnTo>
                  <a:pt x="2505221" y="1940407"/>
                </a:lnTo>
                <a:lnTo>
                  <a:pt x="0" y="194040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880761" y="4797426"/>
            <a:ext cx="10527350" cy="2652362"/>
          </a:xfrm>
          <a:custGeom>
            <a:avLst/>
            <a:gdLst/>
            <a:ahLst/>
            <a:cxnLst/>
            <a:rect r="r" b="b" t="t" l="l"/>
            <a:pathLst>
              <a:path h="2652362" w="10527350">
                <a:moveTo>
                  <a:pt x="0" y="0"/>
                </a:moveTo>
                <a:lnTo>
                  <a:pt x="10527351" y="0"/>
                </a:lnTo>
                <a:lnTo>
                  <a:pt x="10527351" y="2652362"/>
                </a:lnTo>
                <a:lnTo>
                  <a:pt x="0" y="2652362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374718" y="2107185"/>
            <a:ext cx="11720319" cy="279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42"/>
              </a:lnSpc>
            </a:pPr>
            <a:r>
              <a:rPr lang="en-US" sz="10143" spc="202">
                <a:solidFill>
                  <a:srgbClr val="A46435"/>
                </a:solidFill>
                <a:latin typeface="Chunk Five"/>
                <a:ea typeface="Chunk Five"/>
                <a:cs typeface="Chunk Five"/>
                <a:sym typeface="Chunk Five"/>
              </a:rPr>
              <a:t>CRIME AND PUNISHMENT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89426" y="5324475"/>
            <a:ext cx="6110021" cy="69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73"/>
              </a:lnSpc>
            </a:pPr>
            <a:r>
              <a:rPr lang="en-US" sz="5782" spc="-63">
                <a:solidFill>
                  <a:srgbClr val="3D3833"/>
                </a:solidFill>
                <a:latin typeface="Anaktoria"/>
                <a:ea typeface="Anaktoria"/>
                <a:cs typeface="Anaktoria"/>
                <a:sym typeface="Anaktoria"/>
              </a:rPr>
              <a:t>by Fyodor Dostoevsky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82511" y="7796225"/>
            <a:ext cx="3482888" cy="7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3401">
                <a:solidFill>
                  <a:srgbClr val="EEE3D6"/>
                </a:solidFill>
                <a:latin typeface="Special Elite"/>
                <a:ea typeface="Special Elite"/>
                <a:cs typeface="Special Elite"/>
                <a:sym typeface="Special Elite"/>
              </a:rPr>
              <a:t>Ali Amir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01144" y="2946363"/>
          <a:ext cx="7159117" cy="4736505"/>
        </p:xfrm>
        <a:graphic>
          <a:graphicData uri="http://schemas.openxmlformats.org/drawingml/2006/table">
            <a:tbl>
              <a:tblPr/>
              <a:tblGrid>
                <a:gridCol w="568674"/>
                <a:gridCol w="3302875"/>
              </a:tblGrid>
              <a:tr h="93083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5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1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52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Introduction &amp; Hook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083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5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2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52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Genre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083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5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3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52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Author’s Biography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083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5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4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Characters &amp; Ideas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318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5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5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52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Plot Summary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209273" y="3130463"/>
          <a:ext cx="6250239" cy="2710489"/>
        </p:xfrm>
        <a:graphic>
          <a:graphicData uri="http://schemas.openxmlformats.org/drawingml/2006/table">
            <a:tbl>
              <a:tblPr/>
              <a:tblGrid>
                <a:gridCol w="473959"/>
                <a:gridCol w="2472775"/>
              </a:tblGrid>
              <a:tr h="9034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5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6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0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8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Why You Should Read It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4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5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7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0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8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Relevance Today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4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5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999" strike="noStrike" u="none">
                          <a:solidFill>
                            <a:srgbClr val="FFF9F1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8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64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0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884">
                          <a:solidFill>
                            <a:srgbClr val="3D3833"/>
                          </a:solidFill>
                          <a:latin typeface="Special Elite"/>
                          <a:ea typeface="Special Elite"/>
                          <a:cs typeface="Special Elite"/>
                          <a:sym typeface="Special Elite"/>
                        </a:rPr>
                        <a:t>Conclusions</a:t>
                      </a:r>
                      <a:endParaRPr lang="en-US" sz="1100"/>
                    </a:p>
                  </a:txBody>
                  <a:tcPr marL="147410" marR="147410" marT="147410" marB="14741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367282">
            <a:off x="12349608" y="8600854"/>
            <a:ext cx="3657600" cy="551965"/>
          </a:xfrm>
          <a:custGeom>
            <a:avLst/>
            <a:gdLst/>
            <a:ahLst/>
            <a:cxnLst/>
            <a:rect r="r" b="b" t="t" l="l"/>
            <a:pathLst>
              <a:path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4392" y="4265376"/>
            <a:ext cx="7383635" cy="4611461"/>
          </a:xfrm>
          <a:custGeom>
            <a:avLst/>
            <a:gdLst/>
            <a:ahLst/>
            <a:cxnLst/>
            <a:rect r="r" b="b" t="t" l="l"/>
            <a:pathLst>
              <a:path h="4611461" w="7383635">
                <a:moveTo>
                  <a:pt x="0" y="0"/>
                </a:moveTo>
                <a:lnTo>
                  <a:pt x="7383635" y="0"/>
                </a:lnTo>
                <a:lnTo>
                  <a:pt x="7383635" y="4611461"/>
                </a:lnTo>
                <a:lnTo>
                  <a:pt x="0" y="4611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9718972">
            <a:off x="14956199" y="9231498"/>
            <a:ext cx="4657714" cy="1411646"/>
          </a:xfrm>
          <a:custGeom>
            <a:avLst/>
            <a:gdLst/>
            <a:ahLst/>
            <a:cxnLst/>
            <a:rect r="r" b="b" t="t" l="l"/>
            <a:pathLst>
              <a:path h="1411646" w="4657714">
                <a:moveTo>
                  <a:pt x="4657714" y="0"/>
                </a:moveTo>
                <a:lnTo>
                  <a:pt x="0" y="0"/>
                </a:lnTo>
                <a:lnTo>
                  <a:pt x="0" y="1411646"/>
                </a:lnTo>
                <a:lnTo>
                  <a:pt x="4657714" y="1411646"/>
                </a:lnTo>
                <a:lnTo>
                  <a:pt x="465771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33450"/>
            <a:ext cx="32328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84932" y="2299820"/>
            <a:ext cx="7096612" cy="1951992"/>
            <a:chOff x="0" y="0"/>
            <a:chExt cx="9462149" cy="2602656"/>
          </a:xfrm>
        </p:grpSpPr>
        <p:sp>
          <p:nvSpPr>
            <p:cNvPr name="Freeform 4" id="4"/>
            <p:cNvSpPr/>
            <p:nvPr/>
          </p:nvSpPr>
          <p:spPr>
            <a:xfrm flipH="false" flipV="false" rot="-313401">
              <a:off x="86129" y="257816"/>
              <a:ext cx="5015795" cy="2120928"/>
            </a:xfrm>
            <a:custGeom>
              <a:avLst/>
              <a:gdLst/>
              <a:ahLst/>
              <a:cxnLst/>
              <a:rect r="r" b="b" t="t" l="l"/>
              <a:pathLst>
                <a:path h="2120928" w="5015795">
                  <a:moveTo>
                    <a:pt x="0" y="0"/>
                  </a:moveTo>
                  <a:lnTo>
                    <a:pt x="5015794" y="0"/>
                  </a:lnTo>
                  <a:lnTo>
                    <a:pt x="5015794" y="2120928"/>
                  </a:lnTo>
                  <a:lnTo>
                    <a:pt x="0" y="2120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-17458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313401">
              <a:off x="5065704" y="191569"/>
              <a:ext cx="4307050" cy="2160343"/>
            </a:xfrm>
            <a:custGeom>
              <a:avLst/>
              <a:gdLst/>
              <a:ahLst/>
              <a:cxnLst/>
              <a:rect r="r" b="b" t="t" l="l"/>
              <a:pathLst>
                <a:path h="2160343" w="4307050">
                  <a:moveTo>
                    <a:pt x="0" y="0"/>
                  </a:moveTo>
                  <a:lnTo>
                    <a:pt x="4307050" y="0"/>
                  </a:lnTo>
                  <a:lnTo>
                    <a:pt x="4307050" y="2160342"/>
                  </a:lnTo>
                  <a:lnTo>
                    <a:pt x="0" y="216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9328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189509" y="4907219"/>
            <a:ext cx="2908323" cy="5068973"/>
          </a:xfrm>
          <a:custGeom>
            <a:avLst/>
            <a:gdLst/>
            <a:ahLst/>
            <a:cxnLst/>
            <a:rect r="r" b="b" t="t" l="l"/>
            <a:pathLst>
              <a:path h="5068973" w="2908323">
                <a:moveTo>
                  <a:pt x="0" y="0"/>
                </a:moveTo>
                <a:lnTo>
                  <a:pt x="2908323" y="0"/>
                </a:lnTo>
                <a:lnTo>
                  <a:pt x="2908323" y="5068973"/>
                </a:lnTo>
                <a:lnTo>
                  <a:pt x="0" y="50689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21990">
            <a:off x="9490511" y="7884767"/>
            <a:ext cx="5681459" cy="641309"/>
          </a:xfrm>
          <a:custGeom>
            <a:avLst/>
            <a:gdLst/>
            <a:ahLst/>
            <a:cxnLst/>
            <a:rect r="r" b="b" t="t" l="l"/>
            <a:pathLst>
              <a:path h="641309" w="5681459">
                <a:moveTo>
                  <a:pt x="0" y="0"/>
                </a:moveTo>
                <a:lnTo>
                  <a:pt x="5681459" y="0"/>
                </a:lnTo>
                <a:lnTo>
                  <a:pt x="5681459" y="641309"/>
                </a:lnTo>
                <a:lnTo>
                  <a:pt x="0" y="64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64454"/>
            <a:ext cx="6908687" cy="8958092"/>
          </a:xfrm>
          <a:custGeom>
            <a:avLst/>
            <a:gdLst/>
            <a:ahLst/>
            <a:cxnLst/>
            <a:rect r="r" b="b" t="t" l="l"/>
            <a:pathLst>
              <a:path h="8958092" w="6908687">
                <a:moveTo>
                  <a:pt x="0" y="0"/>
                </a:moveTo>
                <a:lnTo>
                  <a:pt x="6908687" y="0"/>
                </a:lnTo>
                <a:lnTo>
                  <a:pt x="6908687" y="8958092"/>
                </a:lnTo>
                <a:lnTo>
                  <a:pt x="0" y="895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63290" y="5667650"/>
            <a:ext cx="8292406" cy="61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1"/>
              </a:lnSpc>
            </a:pPr>
            <a:r>
              <a:rPr lang="en-US" sz="3670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“Your worst sin is that you have destroyed and betrayed yourself…for nothing.” — Fyodor Dostoevsky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37864" y="-693867"/>
            <a:ext cx="3301076" cy="2664869"/>
          </a:xfrm>
          <a:custGeom>
            <a:avLst/>
            <a:gdLst/>
            <a:ahLst/>
            <a:cxnLst/>
            <a:rect r="r" b="b" t="t" l="l"/>
            <a:pathLst>
              <a:path h="2664869" w="3301076">
                <a:moveTo>
                  <a:pt x="0" y="0"/>
                </a:moveTo>
                <a:lnTo>
                  <a:pt x="3301076" y="0"/>
                </a:lnTo>
                <a:lnTo>
                  <a:pt x="3301076" y="2664869"/>
                </a:lnTo>
                <a:lnTo>
                  <a:pt x="0" y="266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987863" y="8793488"/>
            <a:ext cx="3181488" cy="2435285"/>
          </a:xfrm>
          <a:custGeom>
            <a:avLst/>
            <a:gdLst/>
            <a:ahLst/>
            <a:cxnLst/>
            <a:rect r="r" b="b" t="t" l="l"/>
            <a:pathLst>
              <a:path h="2435285" w="3181488">
                <a:moveTo>
                  <a:pt x="3181488" y="0"/>
                </a:moveTo>
                <a:lnTo>
                  <a:pt x="0" y="0"/>
                </a:lnTo>
                <a:lnTo>
                  <a:pt x="0" y="2435284"/>
                </a:lnTo>
                <a:lnTo>
                  <a:pt x="3181488" y="2435284"/>
                </a:lnTo>
                <a:lnTo>
                  <a:pt x="31814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76657" y="8384669"/>
            <a:ext cx="3766540" cy="3252921"/>
          </a:xfrm>
          <a:custGeom>
            <a:avLst/>
            <a:gdLst/>
            <a:ahLst/>
            <a:cxnLst/>
            <a:rect r="r" b="b" t="t" l="l"/>
            <a:pathLst>
              <a:path h="3252921" w="3766540">
                <a:moveTo>
                  <a:pt x="0" y="0"/>
                </a:moveTo>
                <a:lnTo>
                  <a:pt x="3766541" y="0"/>
                </a:lnTo>
                <a:lnTo>
                  <a:pt x="3766541" y="3252922"/>
                </a:lnTo>
                <a:lnTo>
                  <a:pt x="0" y="3252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8570">
            <a:off x="-502966" y="-919522"/>
            <a:ext cx="4717614" cy="2624709"/>
          </a:xfrm>
          <a:custGeom>
            <a:avLst/>
            <a:gdLst/>
            <a:ahLst/>
            <a:cxnLst/>
            <a:rect r="r" b="b" t="t" l="l"/>
            <a:pathLst>
              <a:path h="2624709" w="4717614">
                <a:moveTo>
                  <a:pt x="0" y="0"/>
                </a:moveTo>
                <a:lnTo>
                  <a:pt x="4717614" y="0"/>
                </a:lnTo>
                <a:lnTo>
                  <a:pt x="4717614" y="2624709"/>
                </a:lnTo>
                <a:lnTo>
                  <a:pt x="0" y="2624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5156159" y="-588981"/>
            <a:ext cx="2333188" cy="1459303"/>
          </a:xfrm>
          <a:custGeom>
            <a:avLst/>
            <a:gdLst/>
            <a:ahLst/>
            <a:cxnLst/>
            <a:rect r="r" b="b" t="t" l="l"/>
            <a:pathLst>
              <a:path h="1459303" w="2333188">
                <a:moveTo>
                  <a:pt x="2333188" y="0"/>
                </a:moveTo>
                <a:lnTo>
                  <a:pt x="0" y="0"/>
                </a:lnTo>
                <a:lnTo>
                  <a:pt x="0" y="1459303"/>
                </a:lnTo>
                <a:lnTo>
                  <a:pt x="2333188" y="1459303"/>
                </a:lnTo>
                <a:lnTo>
                  <a:pt x="233318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28016" y="2552174"/>
            <a:ext cx="2131080" cy="1332893"/>
          </a:xfrm>
          <a:custGeom>
            <a:avLst/>
            <a:gdLst/>
            <a:ahLst/>
            <a:cxnLst/>
            <a:rect r="r" b="b" t="t" l="l"/>
            <a:pathLst>
              <a:path h="1332893" w="2131080">
                <a:moveTo>
                  <a:pt x="2131080" y="0"/>
                </a:moveTo>
                <a:lnTo>
                  <a:pt x="0" y="0"/>
                </a:lnTo>
                <a:lnTo>
                  <a:pt x="0" y="1332893"/>
                </a:lnTo>
                <a:lnTo>
                  <a:pt x="2131080" y="1332893"/>
                </a:lnTo>
                <a:lnTo>
                  <a:pt x="213108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86302">
            <a:off x="11712737" y="-300224"/>
            <a:ext cx="2909455" cy="881789"/>
          </a:xfrm>
          <a:custGeom>
            <a:avLst/>
            <a:gdLst/>
            <a:ahLst/>
            <a:cxnLst/>
            <a:rect r="r" b="b" t="t" l="l"/>
            <a:pathLst>
              <a:path h="881789" w="2909455">
                <a:moveTo>
                  <a:pt x="0" y="0"/>
                </a:moveTo>
                <a:lnTo>
                  <a:pt x="2909455" y="0"/>
                </a:lnTo>
                <a:lnTo>
                  <a:pt x="2909455" y="881788"/>
                </a:lnTo>
                <a:lnTo>
                  <a:pt x="0" y="8817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06039" y="227837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0" y="0"/>
                </a:moveTo>
                <a:lnTo>
                  <a:pt x="2817429" y="0"/>
                </a:lnTo>
                <a:lnTo>
                  <a:pt x="2817429" y="927389"/>
                </a:lnTo>
                <a:lnTo>
                  <a:pt x="0" y="9273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1495830">
            <a:off x="15822211" y="690668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2817429" y="0"/>
                </a:moveTo>
                <a:lnTo>
                  <a:pt x="0" y="0"/>
                </a:lnTo>
                <a:lnTo>
                  <a:pt x="0" y="927389"/>
                </a:lnTo>
                <a:lnTo>
                  <a:pt x="2817429" y="927389"/>
                </a:lnTo>
                <a:lnTo>
                  <a:pt x="2817429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73833">
            <a:off x="-4311853" y="3445067"/>
            <a:ext cx="5963772" cy="2914770"/>
          </a:xfrm>
          <a:custGeom>
            <a:avLst/>
            <a:gdLst/>
            <a:ahLst/>
            <a:cxnLst/>
            <a:rect r="r" b="b" t="t" l="l"/>
            <a:pathLst>
              <a:path h="2914770" w="5963772">
                <a:moveTo>
                  <a:pt x="0" y="0"/>
                </a:moveTo>
                <a:lnTo>
                  <a:pt x="5963773" y="0"/>
                </a:lnTo>
                <a:lnTo>
                  <a:pt x="5963773" y="2914770"/>
                </a:lnTo>
                <a:lnTo>
                  <a:pt x="0" y="29147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9206296">
            <a:off x="-646628" y="9444939"/>
            <a:ext cx="3031695" cy="918837"/>
          </a:xfrm>
          <a:custGeom>
            <a:avLst/>
            <a:gdLst/>
            <a:ahLst/>
            <a:cxnLst/>
            <a:rect r="r" b="b" t="t" l="l"/>
            <a:pathLst>
              <a:path h="918837" w="3031695">
                <a:moveTo>
                  <a:pt x="0" y="0"/>
                </a:moveTo>
                <a:lnTo>
                  <a:pt x="3031695" y="0"/>
                </a:lnTo>
                <a:lnTo>
                  <a:pt x="3031695" y="918836"/>
                </a:lnTo>
                <a:lnTo>
                  <a:pt x="0" y="9188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05773">
            <a:off x="291328" y="6473494"/>
            <a:ext cx="1745426" cy="910795"/>
          </a:xfrm>
          <a:custGeom>
            <a:avLst/>
            <a:gdLst/>
            <a:ahLst/>
            <a:cxnLst/>
            <a:rect r="r" b="b" t="t" l="l"/>
            <a:pathLst>
              <a:path h="910795" w="1745426">
                <a:moveTo>
                  <a:pt x="0" y="0"/>
                </a:moveTo>
                <a:lnTo>
                  <a:pt x="1745426" y="0"/>
                </a:lnTo>
                <a:lnTo>
                  <a:pt x="1745426" y="910795"/>
                </a:lnTo>
                <a:lnTo>
                  <a:pt x="0" y="91079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335842">
            <a:off x="-824265" y="6498086"/>
            <a:ext cx="2325704" cy="3644266"/>
          </a:xfrm>
          <a:custGeom>
            <a:avLst/>
            <a:gdLst/>
            <a:ahLst/>
            <a:cxnLst/>
            <a:rect r="r" b="b" t="t" l="l"/>
            <a:pathLst>
              <a:path h="3644266" w="2325704">
                <a:moveTo>
                  <a:pt x="0" y="0"/>
                </a:moveTo>
                <a:lnTo>
                  <a:pt x="2325704" y="0"/>
                </a:lnTo>
                <a:lnTo>
                  <a:pt x="2325704" y="3644265"/>
                </a:lnTo>
                <a:lnTo>
                  <a:pt x="0" y="364426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160402" y="3885067"/>
            <a:ext cx="3349629" cy="2795417"/>
          </a:xfrm>
          <a:custGeom>
            <a:avLst/>
            <a:gdLst/>
            <a:ahLst/>
            <a:cxnLst/>
            <a:rect r="r" b="b" t="t" l="l"/>
            <a:pathLst>
              <a:path h="2795417" w="3349629">
                <a:moveTo>
                  <a:pt x="0" y="0"/>
                </a:moveTo>
                <a:lnTo>
                  <a:pt x="3349628" y="0"/>
                </a:lnTo>
                <a:lnTo>
                  <a:pt x="3349628" y="2795417"/>
                </a:lnTo>
                <a:lnTo>
                  <a:pt x="0" y="27954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832525">
            <a:off x="16128681" y="8264830"/>
            <a:ext cx="3729750" cy="1986939"/>
          </a:xfrm>
          <a:custGeom>
            <a:avLst/>
            <a:gdLst/>
            <a:ahLst/>
            <a:cxnLst/>
            <a:rect r="r" b="b" t="t" l="l"/>
            <a:pathLst>
              <a:path h="1986939" w="3729750">
                <a:moveTo>
                  <a:pt x="0" y="0"/>
                </a:moveTo>
                <a:lnTo>
                  <a:pt x="3729750" y="0"/>
                </a:lnTo>
                <a:lnTo>
                  <a:pt x="3729750" y="1986940"/>
                </a:lnTo>
                <a:lnTo>
                  <a:pt x="0" y="198694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489347" y="9723742"/>
            <a:ext cx="3262436" cy="1126516"/>
          </a:xfrm>
          <a:custGeom>
            <a:avLst/>
            <a:gdLst/>
            <a:ahLst/>
            <a:cxnLst/>
            <a:rect r="r" b="b" t="t" l="l"/>
            <a:pathLst>
              <a:path h="1126516" w="3262436">
                <a:moveTo>
                  <a:pt x="0" y="0"/>
                </a:moveTo>
                <a:lnTo>
                  <a:pt x="3262436" y="0"/>
                </a:lnTo>
                <a:lnTo>
                  <a:pt x="3262436" y="1126516"/>
                </a:lnTo>
                <a:lnTo>
                  <a:pt x="0" y="112651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948969" y="3638035"/>
            <a:ext cx="10390062" cy="363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2"/>
              </a:lnSpc>
            </a:pPr>
            <a:r>
              <a:rPr lang="en-US" sz="3294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Imagine holding a scale. On one side, a cruel, greedy person who brings misery to others. On the other, a hundred starving people who could be saved with that one person’s wealth. Cold logic says: eliminate them. But what if picking up the axe shattered your own conscience forever? That is the question at the heart of Crime and Punishment.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1013" y="2230753"/>
            <a:ext cx="746597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5"/>
              </a:lnSpc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92175">
            <a:off x="12127412" y="1192991"/>
            <a:ext cx="5627903" cy="8453126"/>
          </a:xfrm>
          <a:custGeom>
            <a:avLst/>
            <a:gdLst/>
            <a:ahLst/>
            <a:cxnLst/>
            <a:rect r="r" b="b" t="t" l="l"/>
            <a:pathLst>
              <a:path h="8453126" w="5627903">
                <a:moveTo>
                  <a:pt x="5627903" y="0"/>
                </a:moveTo>
                <a:lnTo>
                  <a:pt x="0" y="0"/>
                </a:lnTo>
                <a:lnTo>
                  <a:pt x="0" y="8453126"/>
                </a:lnTo>
                <a:lnTo>
                  <a:pt x="5627903" y="8453126"/>
                </a:lnTo>
                <a:lnTo>
                  <a:pt x="56279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2523" y="6353035"/>
            <a:ext cx="10163019" cy="1867455"/>
          </a:xfrm>
          <a:custGeom>
            <a:avLst/>
            <a:gdLst/>
            <a:ahLst/>
            <a:cxnLst/>
            <a:rect r="r" b="b" t="t" l="l"/>
            <a:pathLst>
              <a:path h="1867455" w="10163019">
                <a:moveTo>
                  <a:pt x="0" y="0"/>
                </a:moveTo>
                <a:lnTo>
                  <a:pt x="10163019" y="0"/>
                </a:lnTo>
                <a:lnTo>
                  <a:pt x="10163019" y="1867454"/>
                </a:lnTo>
                <a:lnTo>
                  <a:pt x="0" y="1867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390140" y="4213463"/>
            <a:ext cx="9582077" cy="54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0"/>
              </a:lnSpc>
            </a:pPr>
            <a:r>
              <a:rPr lang="en-US" sz="3301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 xml:space="preserve">Genre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140" y="1442751"/>
            <a:ext cx="901589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400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19th-Century Realism &amp; Psychological Thriller. Dostoevsky subverts the crime novel: we watch Raskolnikov commit murder in Part One. The suspense shifts from “whodunit” to “whydunit.” The real thriller is the claustrophobic chase inside Raskolnikov’s own fractured mind — a philosophical novel about conscience, guilt, and limits of cold logic.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6453033" y="1293184"/>
            <a:ext cx="2595089" cy="1623110"/>
          </a:xfrm>
          <a:custGeom>
            <a:avLst/>
            <a:gdLst/>
            <a:ahLst/>
            <a:cxnLst/>
            <a:rect r="r" b="b" t="t" l="l"/>
            <a:pathLst>
              <a:path h="1623110" w="2595089">
                <a:moveTo>
                  <a:pt x="2595089" y="0"/>
                </a:moveTo>
                <a:lnTo>
                  <a:pt x="0" y="0"/>
                </a:lnTo>
                <a:lnTo>
                  <a:pt x="0" y="1623110"/>
                </a:lnTo>
                <a:lnTo>
                  <a:pt x="2595089" y="1623110"/>
                </a:lnTo>
                <a:lnTo>
                  <a:pt x="259508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05773">
            <a:off x="10509073" y="8988375"/>
            <a:ext cx="1908018" cy="995638"/>
          </a:xfrm>
          <a:custGeom>
            <a:avLst/>
            <a:gdLst/>
            <a:ahLst/>
            <a:cxnLst/>
            <a:rect r="r" b="b" t="t" l="l"/>
            <a:pathLst>
              <a:path h="995638" w="1908018">
                <a:moveTo>
                  <a:pt x="0" y="0"/>
                </a:moveTo>
                <a:lnTo>
                  <a:pt x="1908018" y="0"/>
                </a:lnTo>
                <a:lnTo>
                  <a:pt x="1908018" y="995638"/>
                </a:lnTo>
                <a:lnTo>
                  <a:pt x="0" y="99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9721" y="2671476"/>
            <a:ext cx="10163019" cy="1867455"/>
          </a:xfrm>
          <a:custGeom>
            <a:avLst/>
            <a:gdLst/>
            <a:ahLst/>
            <a:cxnLst/>
            <a:rect r="r" b="b" t="t" l="l"/>
            <a:pathLst>
              <a:path h="1867455" w="10163019">
                <a:moveTo>
                  <a:pt x="0" y="0"/>
                </a:moveTo>
                <a:lnTo>
                  <a:pt x="10163019" y="0"/>
                </a:lnTo>
                <a:lnTo>
                  <a:pt x="10163019" y="1867455"/>
                </a:lnTo>
                <a:lnTo>
                  <a:pt x="0" y="1867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19721" y="4996131"/>
            <a:ext cx="10163019" cy="1867455"/>
          </a:xfrm>
          <a:custGeom>
            <a:avLst/>
            <a:gdLst/>
            <a:ahLst/>
            <a:cxnLst/>
            <a:rect r="r" b="b" t="t" l="l"/>
            <a:pathLst>
              <a:path h="1867455" w="10163019">
                <a:moveTo>
                  <a:pt x="0" y="0"/>
                </a:moveTo>
                <a:lnTo>
                  <a:pt x="10163019" y="0"/>
                </a:lnTo>
                <a:lnTo>
                  <a:pt x="10163019" y="1867455"/>
                </a:lnTo>
                <a:lnTo>
                  <a:pt x="0" y="1867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7544107" y="3137987"/>
            <a:ext cx="8339416" cy="90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6"/>
              </a:lnSpc>
            </a:pPr>
            <a:r>
              <a:rPr lang="en-US" sz="2845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Born 1821 in Moscow to a strict, authoritarian father who was a doctor at a pauper’s hospital. At 16 he left for St. Petersburg to study military engineering.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44107" y="5462641"/>
            <a:ext cx="8339416" cy="90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6"/>
              </a:lnSpc>
            </a:pPr>
            <a:r>
              <a:rPr lang="en-US" sz="2845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After his father’s murder, he left the military in 1844 to pursue literature. His later imprisonment in Siberia profoundly shaped his worldview.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7627" y="933450"/>
            <a:ext cx="901589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Author’s Biography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37252" y="3127560"/>
            <a:ext cx="964937" cy="955288"/>
          </a:xfrm>
          <a:custGeom>
            <a:avLst/>
            <a:gdLst/>
            <a:ahLst/>
            <a:cxnLst/>
            <a:rect r="r" b="b" t="t" l="l"/>
            <a:pathLst>
              <a:path h="955288" w="964937">
                <a:moveTo>
                  <a:pt x="0" y="0"/>
                </a:moveTo>
                <a:lnTo>
                  <a:pt x="964937" y="0"/>
                </a:lnTo>
                <a:lnTo>
                  <a:pt x="964937" y="955288"/>
                </a:lnTo>
                <a:lnTo>
                  <a:pt x="0" y="95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37252" y="5452214"/>
            <a:ext cx="964937" cy="955288"/>
          </a:xfrm>
          <a:custGeom>
            <a:avLst/>
            <a:gdLst/>
            <a:ahLst/>
            <a:cxnLst/>
            <a:rect r="r" b="b" t="t" l="l"/>
            <a:pathLst>
              <a:path h="955288" w="964937">
                <a:moveTo>
                  <a:pt x="0" y="0"/>
                </a:moveTo>
                <a:lnTo>
                  <a:pt x="964937" y="0"/>
                </a:lnTo>
                <a:lnTo>
                  <a:pt x="964937" y="955288"/>
                </a:lnTo>
                <a:lnTo>
                  <a:pt x="0" y="95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12380" y="3258394"/>
            <a:ext cx="463488" cy="72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4386" strike="noStrike" u="none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12380" y="5583049"/>
            <a:ext cx="463488" cy="72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4386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919721" y="7320786"/>
            <a:ext cx="10163019" cy="1867455"/>
          </a:xfrm>
          <a:custGeom>
            <a:avLst/>
            <a:gdLst/>
            <a:ahLst/>
            <a:cxnLst/>
            <a:rect r="r" b="b" t="t" l="l"/>
            <a:pathLst>
              <a:path h="1867455" w="10163019">
                <a:moveTo>
                  <a:pt x="0" y="0"/>
                </a:moveTo>
                <a:lnTo>
                  <a:pt x="10163019" y="0"/>
                </a:lnTo>
                <a:lnTo>
                  <a:pt x="10163019" y="1867455"/>
                </a:lnTo>
                <a:lnTo>
                  <a:pt x="0" y="1867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7544107" y="7838648"/>
            <a:ext cx="8711142" cy="90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6"/>
              </a:lnSpc>
            </a:pPr>
            <a:r>
              <a:rPr lang="en-US" sz="2845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He conceived the novel in 1865 in Wiesbaden — penniless, unable to pay his bills, starving in a cheap room. Like Raskolnikov, he was dreaming of escape through desperate action.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37252" y="7776869"/>
            <a:ext cx="964937" cy="955288"/>
          </a:xfrm>
          <a:custGeom>
            <a:avLst/>
            <a:gdLst/>
            <a:ahLst/>
            <a:cxnLst/>
            <a:rect r="r" b="b" t="t" l="l"/>
            <a:pathLst>
              <a:path h="955288" w="964937">
                <a:moveTo>
                  <a:pt x="0" y="0"/>
                </a:moveTo>
                <a:lnTo>
                  <a:pt x="964937" y="0"/>
                </a:lnTo>
                <a:lnTo>
                  <a:pt x="964937" y="955288"/>
                </a:lnTo>
                <a:lnTo>
                  <a:pt x="0" y="95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12380" y="7907704"/>
            <a:ext cx="463488" cy="72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4386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44536"/>
            <a:ext cx="3758364" cy="238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4"/>
              </a:lnSpc>
            </a:pPr>
            <a:r>
              <a:rPr lang="en-US" sz="3101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Dostoevsky’s own suffering breathed life into Raskolnikov’s desperation.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2253700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0617789">
            <a:off x="-487148" y="759902"/>
            <a:ext cx="3031695" cy="918837"/>
          </a:xfrm>
          <a:custGeom>
            <a:avLst/>
            <a:gdLst/>
            <a:ahLst/>
            <a:cxnLst/>
            <a:rect r="r" b="b" t="t" l="l"/>
            <a:pathLst>
              <a:path h="918837" w="3031695">
                <a:moveTo>
                  <a:pt x="0" y="0"/>
                </a:moveTo>
                <a:lnTo>
                  <a:pt x="3031696" y="0"/>
                </a:lnTo>
                <a:lnTo>
                  <a:pt x="3031696" y="918837"/>
                </a:lnTo>
                <a:lnTo>
                  <a:pt x="0" y="9188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260" y="3800699"/>
            <a:ext cx="4840416" cy="4920940"/>
          </a:xfrm>
          <a:custGeom>
            <a:avLst/>
            <a:gdLst/>
            <a:ahLst/>
            <a:cxnLst/>
            <a:rect r="r" b="b" t="t" l="l"/>
            <a:pathLst>
              <a:path h="4920940" w="4840416">
                <a:moveTo>
                  <a:pt x="0" y="0"/>
                </a:moveTo>
                <a:lnTo>
                  <a:pt x="4840416" y="0"/>
                </a:lnTo>
                <a:lnTo>
                  <a:pt x="4840416" y="4920940"/>
                </a:lnTo>
                <a:lnTo>
                  <a:pt x="0" y="4920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23792" y="3800699"/>
            <a:ext cx="4728620" cy="4807284"/>
          </a:xfrm>
          <a:custGeom>
            <a:avLst/>
            <a:gdLst/>
            <a:ahLst/>
            <a:cxnLst/>
            <a:rect r="r" b="b" t="t" l="l"/>
            <a:pathLst>
              <a:path h="4807284" w="4728620">
                <a:moveTo>
                  <a:pt x="0" y="0"/>
                </a:moveTo>
                <a:lnTo>
                  <a:pt x="4728620" y="0"/>
                </a:lnTo>
                <a:lnTo>
                  <a:pt x="4728620" y="4807284"/>
                </a:lnTo>
                <a:lnTo>
                  <a:pt x="0" y="4807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600876" y="3056936"/>
            <a:ext cx="1649739" cy="1633241"/>
          </a:xfrm>
          <a:custGeom>
            <a:avLst/>
            <a:gdLst/>
            <a:ahLst/>
            <a:cxnLst/>
            <a:rect r="r" b="b" t="t" l="l"/>
            <a:pathLst>
              <a:path h="1633241" w="1649739">
                <a:moveTo>
                  <a:pt x="0" y="0"/>
                </a:moveTo>
                <a:lnTo>
                  <a:pt x="1649739" y="0"/>
                </a:lnTo>
                <a:lnTo>
                  <a:pt x="1649739" y="1633241"/>
                </a:lnTo>
                <a:lnTo>
                  <a:pt x="0" y="1633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77408" y="3056936"/>
            <a:ext cx="1649739" cy="1633241"/>
          </a:xfrm>
          <a:custGeom>
            <a:avLst/>
            <a:gdLst/>
            <a:ahLst/>
            <a:cxnLst/>
            <a:rect r="r" b="b" t="t" l="l"/>
            <a:pathLst>
              <a:path h="1633241" w="1649739">
                <a:moveTo>
                  <a:pt x="0" y="0"/>
                </a:moveTo>
                <a:lnTo>
                  <a:pt x="1649739" y="0"/>
                </a:lnTo>
                <a:lnTo>
                  <a:pt x="1649739" y="1633241"/>
                </a:lnTo>
                <a:lnTo>
                  <a:pt x="0" y="1633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71259" y="3299365"/>
            <a:ext cx="79241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47791" y="3299365"/>
            <a:ext cx="79241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6743" y="5067300"/>
            <a:ext cx="3981450" cy="43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3"/>
              </a:lnSpc>
            </a:pPr>
            <a:r>
              <a:rPr lang="en-US" sz="2367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Raskolnikov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3275" y="5067300"/>
            <a:ext cx="3981450" cy="43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3"/>
              </a:lnSpc>
            </a:pPr>
            <a:r>
              <a:rPr lang="en-US" sz="2367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Svidrigailov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0324" y="3800699"/>
            <a:ext cx="4840416" cy="4920940"/>
          </a:xfrm>
          <a:custGeom>
            <a:avLst/>
            <a:gdLst/>
            <a:ahLst/>
            <a:cxnLst/>
            <a:rect r="r" b="b" t="t" l="l"/>
            <a:pathLst>
              <a:path h="4920940" w="4840416">
                <a:moveTo>
                  <a:pt x="0" y="0"/>
                </a:moveTo>
                <a:lnTo>
                  <a:pt x="4840416" y="0"/>
                </a:lnTo>
                <a:lnTo>
                  <a:pt x="4840416" y="4920940"/>
                </a:lnTo>
                <a:lnTo>
                  <a:pt x="0" y="4920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953940" y="3056936"/>
            <a:ext cx="1649739" cy="1633241"/>
          </a:xfrm>
          <a:custGeom>
            <a:avLst/>
            <a:gdLst/>
            <a:ahLst/>
            <a:cxnLst/>
            <a:rect r="r" b="b" t="t" l="l"/>
            <a:pathLst>
              <a:path h="1633241" w="1649739">
                <a:moveTo>
                  <a:pt x="0" y="0"/>
                </a:moveTo>
                <a:lnTo>
                  <a:pt x="1649739" y="0"/>
                </a:lnTo>
                <a:lnTo>
                  <a:pt x="1649739" y="1633241"/>
                </a:lnTo>
                <a:lnTo>
                  <a:pt x="0" y="1633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424323" y="3299365"/>
            <a:ext cx="79241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88084" y="5067300"/>
            <a:ext cx="3981450" cy="43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503"/>
              </a:lnSpc>
            </a:pPr>
            <a:r>
              <a:rPr lang="en-US" sz="2367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Sonya &amp; Porfiry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10480" y="1229173"/>
            <a:ext cx="1046704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CHARACTERS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398157" y="6039466"/>
            <a:ext cx="15336613" cy="18324"/>
          </a:xfrm>
          <a:prstGeom prst="line">
            <a:avLst/>
          </a:prstGeom>
          <a:ln cap="flat" w="66675">
            <a:solidFill>
              <a:srgbClr val="3D38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823549" y="2914789"/>
            <a:ext cx="2119939" cy="2365044"/>
          </a:xfrm>
          <a:custGeom>
            <a:avLst/>
            <a:gdLst/>
            <a:ahLst/>
            <a:cxnLst/>
            <a:rect r="r" b="b" t="t" l="l"/>
            <a:pathLst>
              <a:path h="2365044" w="2119939">
                <a:moveTo>
                  <a:pt x="0" y="0"/>
                </a:moveTo>
                <a:lnTo>
                  <a:pt x="2119939" y="0"/>
                </a:lnTo>
                <a:lnTo>
                  <a:pt x="2119939" y="2365044"/>
                </a:lnTo>
                <a:lnTo>
                  <a:pt x="0" y="2365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84795" y="2844474"/>
            <a:ext cx="1325411" cy="2505675"/>
          </a:xfrm>
          <a:custGeom>
            <a:avLst/>
            <a:gdLst/>
            <a:ahLst/>
            <a:cxnLst/>
            <a:rect r="r" b="b" t="t" l="l"/>
            <a:pathLst>
              <a:path h="2505675" w="1325411">
                <a:moveTo>
                  <a:pt x="0" y="0"/>
                </a:moveTo>
                <a:lnTo>
                  <a:pt x="1325410" y="0"/>
                </a:lnTo>
                <a:lnTo>
                  <a:pt x="1325410" y="2505675"/>
                </a:lnTo>
                <a:lnTo>
                  <a:pt x="0" y="25056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61015" y="3269579"/>
            <a:ext cx="1809630" cy="1800638"/>
          </a:xfrm>
          <a:custGeom>
            <a:avLst/>
            <a:gdLst/>
            <a:ahLst/>
            <a:cxnLst/>
            <a:rect r="r" b="b" t="t" l="l"/>
            <a:pathLst>
              <a:path h="1800638" w="1809630">
                <a:moveTo>
                  <a:pt x="0" y="0"/>
                </a:moveTo>
                <a:lnTo>
                  <a:pt x="1809630" y="0"/>
                </a:lnTo>
                <a:lnTo>
                  <a:pt x="1809630" y="1800638"/>
                </a:lnTo>
                <a:lnTo>
                  <a:pt x="0" y="1800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6816" y="3004813"/>
            <a:ext cx="2454487" cy="2325627"/>
          </a:xfrm>
          <a:custGeom>
            <a:avLst/>
            <a:gdLst/>
            <a:ahLst/>
            <a:cxnLst/>
            <a:rect r="r" b="b" t="t" l="l"/>
            <a:pathLst>
              <a:path h="2325627" w="2454487">
                <a:moveTo>
                  <a:pt x="0" y="0"/>
                </a:moveTo>
                <a:lnTo>
                  <a:pt x="2454487" y="0"/>
                </a:lnTo>
                <a:lnTo>
                  <a:pt x="2454487" y="2325627"/>
                </a:lnTo>
                <a:lnTo>
                  <a:pt x="0" y="2325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277474" y="2985105"/>
            <a:ext cx="2309757" cy="2365044"/>
          </a:xfrm>
          <a:custGeom>
            <a:avLst/>
            <a:gdLst/>
            <a:ahLst/>
            <a:cxnLst/>
            <a:rect r="r" b="b" t="t" l="l"/>
            <a:pathLst>
              <a:path h="2365044" w="2309757">
                <a:moveTo>
                  <a:pt x="0" y="0"/>
                </a:moveTo>
                <a:lnTo>
                  <a:pt x="2309757" y="0"/>
                </a:lnTo>
                <a:lnTo>
                  <a:pt x="2309757" y="2365044"/>
                </a:lnTo>
                <a:lnTo>
                  <a:pt x="0" y="23650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52649" y="1355665"/>
            <a:ext cx="124276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5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Characters &amp; the Ideas They Represent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022" y="7694682"/>
            <a:ext cx="2781105" cy="12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4"/>
              </a:lnSpc>
            </a:pPr>
            <a:r>
              <a:rPr lang="en-US" sz="1417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An impoverished ex-law student. Represents intellectual arrogance and the “Extraordinary Man” theory — his belief that superior intellect grants the right to step over the law.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92966" y="7694682"/>
            <a:ext cx="2781105" cy="14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1"/>
              </a:lnSpc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A wealthy, corrupt aristocrat. Represents the logical extreme of nihilism. He is Raskolnikov’s dark mirror — showing what life looks like when conscience is completely killed.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75911" y="7694682"/>
            <a:ext cx="2781105" cy="14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1"/>
              </a:lnSpc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The brilliant police detective. Represents psychological reality. He doesn’t chase Raskolnikov with handcuffs — he traps him in agonizing mind games, knowing guilt will break him from within.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9013" y="6853244"/>
            <a:ext cx="1863123" cy="39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9"/>
              </a:lnSpc>
            </a:pPr>
            <a:r>
              <a:rPr lang="en-US" sz="2475">
                <a:solidFill>
                  <a:srgbClr val="FAF5EB"/>
                </a:solidFill>
                <a:latin typeface="Special Elite"/>
                <a:ea typeface="Special Elite"/>
                <a:cs typeface="Special Elite"/>
                <a:sym typeface="Special Elite"/>
              </a:rPr>
              <a:t>Raskolnikov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1957" y="6853244"/>
            <a:ext cx="1863123" cy="39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9"/>
              </a:lnSpc>
            </a:pPr>
            <a:r>
              <a:rPr lang="en-US" sz="2475">
                <a:solidFill>
                  <a:srgbClr val="FAF5EB"/>
                </a:solidFill>
                <a:latin typeface="Special Elite"/>
                <a:ea typeface="Special Elite"/>
                <a:cs typeface="Special Elite"/>
                <a:sym typeface="Special Elite"/>
              </a:rPr>
              <a:t>Svidrigailov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4902" y="6853244"/>
            <a:ext cx="1863123" cy="39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9"/>
              </a:lnSpc>
            </a:pPr>
            <a:r>
              <a:rPr lang="en-US" sz="2475">
                <a:solidFill>
                  <a:srgbClr val="FAF5EB"/>
                </a:solidFill>
                <a:latin typeface="Special Elite"/>
                <a:ea typeface="Special Elite"/>
                <a:cs typeface="Special Elite"/>
                <a:sym typeface="Special Elite"/>
              </a:rPr>
              <a:t>Porfiry Petrovich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17846" y="6853244"/>
            <a:ext cx="1863123" cy="39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9"/>
              </a:lnSpc>
            </a:pPr>
            <a:r>
              <a:rPr lang="en-US" sz="2475">
                <a:solidFill>
                  <a:srgbClr val="FAF5EB"/>
                </a:solidFill>
                <a:latin typeface="Special Elite"/>
                <a:ea typeface="Special Elite"/>
                <a:cs typeface="Special Elite"/>
                <a:sym typeface="Special Elite"/>
              </a:rPr>
              <a:t>Sonya Marmeladova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00791" y="6853244"/>
            <a:ext cx="1863123" cy="39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9"/>
              </a:lnSpc>
            </a:pPr>
            <a:r>
              <a:rPr lang="en-US" sz="2475">
                <a:solidFill>
                  <a:srgbClr val="FAF5EB"/>
                </a:solidFill>
                <a:latin typeface="Special Elite"/>
                <a:ea typeface="Special Elite"/>
                <a:cs typeface="Special Elite"/>
                <a:sym typeface="Special Elite"/>
              </a:rPr>
              <a:t>The Extraordinary Man Theory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58855" y="7694682"/>
            <a:ext cx="2781105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5"/>
              </a:lnSpc>
            </a:pPr>
            <a:r>
              <a:rPr lang="en-US" sz="1500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Forced into prostitution to feed her family. Represents the opposite of Raskolnikov — self-sacrificing love, empathy, and Christian redemption. The emotional anchor of the novel.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55986" y="7694682"/>
            <a:ext cx="2952732" cy="14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1"/>
              </a:lnSpc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Raskolnikov divides humanity: the “ordinary” masses who must obey the law, and the “extraordinary” few — like Napoleon — who may step over it. His tragedy is believing he belongs to the latter.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497098" y="5835924"/>
            <a:ext cx="404110" cy="400069"/>
          </a:xfrm>
          <a:custGeom>
            <a:avLst/>
            <a:gdLst/>
            <a:ahLst/>
            <a:cxnLst/>
            <a:rect r="r" b="b" t="t" l="l"/>
            <a:pathLst>
              <a:path h="400069" w="404110">
                <a:moveTo>
                  <a:pt x="0" y="0"/>
                </a:moveTo>
                <a:lnTo>
                  <a:pt x="404109" y="0"/>
                </a:lnTo>
                <a:lnTo>
                  <a:pt x="404109" y="400069"/>
                </a:lnTo>
                <a:lnTo>
                  <a:pt x="0" y="4000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681464" y="5835924"/>
            <a:ext cx="404110" cy="400069"/>
          </a:xfrm>
          <a:custGeom>
            <a:avLst/>
            <a:gdLst/>
            <a:ahLst/>
            <a:cxnLst/>
            <a:rect r="r" b="b" t="t" l="l"/>
            <a:pathLst>
              <a:path h="400069" w="404110">
                <a:moveTo>
                  <a:pt x="0" y="0"/>
                </a:moveTo>
                <a:lnTo>
                  <a:pt x="404110" y="0"/>
                </a:lnTo>
                <a:lnTo>
                  <a:pt x="404110" y="400069"/>
                </a:lnTo>
                <a:lnTo>
                  <a:pt x="0" y="4000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65830" y="5835924"/>
            <a:ext cx="404110" cy="400069"/>
          </a:xfrm>
          <a:custGeom>
            <a:avLst/>
            <a:gdLst/>
            <a:ahLst/>
            <a:cxnLst/>
            <a:rect r="r" b="b" t="t" l="l"/>
            <a:pathLst>
              <a:path h="400069" w="404110">
                <a:moveTo>
                  <a:pt x="0" y="0"/>
                </a:moveTo>
                <a:lnTo>
                  <a:pt x="404110" y="0"/>
                </a:lnTo>
                <a:lnTo>
                  <a:pt x="404110" y="400069"/>
                </a:lnTo>
                <a:lnTo>
                  <a:pt x="0" y="4000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050197" y="5835924"/>
            <a:ext cx="404110" cy="400069"/>
          </a:xfrm>
          <a:custGeom>
            <a:avLst/>
            <a:gdLst/>
            <a:ahLst/>
            <a:cxnLst/>
            <a:rect r="r" b="b" t="t" l="l"/>
            <a:pathLst>
              <a:path h="400069" w="404110">
                <a:moveTo>
                  <a:pt x="0" y="0"/>
                </a:moveTo>
                <a:lnTo>
                  <a:pt x="404109" y="0"/>
                </a:lnTo>
                <a:lnTo>
                  <a:pt x="404109" y="400069"/>
                </a:lnTo>
                <a:lnTo>
                  <a:pt x="0" y="4000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34563" y="5835924"/>
            <a:ext cx="404110" cy="400069"/>
          </a:xfrm>
          <a:custGeom>
            <a:avLst/>
            <a:gdLst/>
            <a:ahLst/>
            <a:cxnLst/>
            <a:rect r="r" b="b" t="t" l="l"/>
            <a:pathLst>
              <a:path h="400069" w="404110">
                <a:moveTo>
                  <a:pt x="0" y="0"/>
                </a:moveTo>
                <a:lnTo>
                  <a:pt x="404110" y="0"/>
                </a:lnTo>
                <a:lnTo>
                  <a:pt x="404110" y="400069"/>
                </a:lnTo>
                <a:lnTo>
                  <a:pt x="0" y="4000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89698" y="1129613"/>
            <a:ext cx="3555316" cy="50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6"/>
              </a:lnSpc>
              <a:spcBef>
                <a:spcPct val="0"/>
              </a:spcBef>
            </a:pPr>
            <a:r>
              <a:rPr lang="en-US" sz="3678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Part 6: Climax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44635" y="7513274"/>
            <a:ext cx="4245442" cy="50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6"/>
              </a:lnSpc>
              <a:spcBef>
                <a:spcPct val="0"/>
              </a:spcBef>
            </a:pPr>
            <a:r>
              <a:rPr lang="en-US" sz="3678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The Pawnbroker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44976" y="4670845"/>
            <a:ext cx="559804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75"/>
              </a:lnSpc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Plot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3931" y="6231624"/>
            <a:ext cx="3600138" cy="3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0"/>
              </a:lnSpc>
            </a:pPr>
            <a:r>
              <a:rPr lang="en-US" sz="1921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Six Parts + Epilogue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9091" y="1709753"/>
            <a:ext cx="4334179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5897" y="1709753"/>
            <a:ext cx="4334179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9091" y="8090858"/>
            <a:ext cx="4334179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5897" y="8090858"/>
            <a:ext cx="4334179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7742" y="4834163"/>
            <a:ext cx="4427348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39642" y="4834163"/>
            <a:ext cx="4427348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2892" y="1129613"/>
            <a:ext cx="3555316" cy="50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6"/>
              </a:lnSpc>
              <a:spcBef>
                <a:spcPct val="0"/>
              </a:spcBef>
            </a:pPr>
            <a:r>
              <a:rPr lang="en-US" sz="3678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Part 1: The Crime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2892" y="7513274"/>
            <a:ext cx="3555316" cy="50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6"/>
              </a:lnSpc>
              <a:spcBef>
                <a:spcPct val="0"/>
              </a:spcBef>
            </a:pPr>
            <a:r>
              <a:rPr lang="en-US" sz="3678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Parts 4-5: Confession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227933"/>
            <a:ext cx="3555316" cy="49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6"/>
              </a:lnSpc>
              <a:spcBef>
                <a:spcPct val="0"/>
              </a:spcBef>
            </a:pPr>
            <a:r>
              <a:rPr lang="en-US" sz="3678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Parts 2-3: Punishment Begins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90600" y="4227933"/>
            <a:ext cx="3555316" cy="49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6"/>
              </a:lnSpc>
              <a:spcBef>
                <a:spcPct val="0"/>
              </a:spcBef>
            </a:pPr>
            <a:r>
              <a:rPr lang="en-US" sz="3678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Epilogue: Redemption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3725195">
            <a:off x="5781100" y="4885114"/>
            <a:ext cx="675057" cy="865458"/>
          </a:xfrm>
          <a:custGeom>
            <a:avLst/>
            <a:gdLst/>
            <a:ahLst/>
            <a:cxnLst/>
            <a:rect r="r" b="b" t="t" l="l"/>
            <a:pathLst>
              <a:path h="865458" w="675057">
                <a:moveTo>
                  <a:pt x="0" y="0"/>
                </a:moveTo>
                <a:lnTo>
                  <a:pt x="675057" y="0"/>
                </a:lnTo>
                <a:lnTo>
                  <a:pt x="675057" y="865457"/>
                </a:lnTo>
                <a:lnTo>
                  <a:pt x="0" y="865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3867351">
            <a:off x="11809374" y="4885114"/>
            <a:ext cx="675057" cy="865458"/>
          </a:xfrm>
          <a:custGeom>
            <a:avLst/>
            <a:gdLst/>
            <a:ahLst/>
            <a:cxnLst/>
            <a:rect r="r" b="b" t="t" l="l"/>
            <a:pathLst>
              <a:path h="865458" w="675057">
                <a:moveTo>
                  <a:pt x="675057" y="0"/>
                </a:moveTo>
                <a:lnTo>
                  <a:pt x="0" y="0"/>
                </a:lnTo>
                <a:lnTo>
                  <a:pt x="0" y="865457"/>
                </a:lnTo>
                <a:lnTo>
                  <a:pt x="675057" y="865457"/>
                </a:lnTo>
                <a:lnTo>
                  <a:pt x="67505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6056962" y="7378416"/>
            <a:ext cx="1100945" cy="1201428"/>
          </a:xfrm>
          <a:custGeom>
            <a:avLst/>
            <a:gdLst/>
            <a:ahLst/>
            <a:cxnLst/>
            <a:rect r="r" b="b" t="t" l="l"/>
            <a:pathLst>
              <a:path h="1201428" w="1100945">
                <a:moveTo>
                  <a:pt x="0" y="0"/>
                </a:moveTo>
                <a:lnTo>
                  <a:pt x="1100945" y="0"/>
                </a:lnTo>
                <a:lnTo>
                  <a:pt x="1100945" y="1201428"/>
                </a:lnTo>
                <a:lnTo>
                  <a:pt x="0" y="1201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1291261" y="2055841"/>
            <a:ext cx="1100945" cy="1201428"/>
          </a:xfrm>
          <a:custGeom>
            <a:avLst/>
            <a:gdLst/>
            <a:ahLst/>
            <a:cxnLst/>
            <a:rect r="r" b="b" t="t" l="l"/>
            <a:pathLst>
              <a:path h="1201428" w="1100945">
                <a:moveTo>
                  <a:pt x="0" y="0"/>
                </a:moveTo>
                <a:lnTo>
                  <a:pt x="1100945" y="0"/>
                </a:lnTo>
                <a:lnTo>
                  <a:pt x="1100945" y="1201428"/>
                </a:lnTo>
                <a:lnTo>
                  <a:pt x="0" y="1201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5400000">
            <a:off x="6056962" y="2055841"/>
            <a:ext cx="1100945" cy="1201428"/>
          </a:xfrm>
          <a:custGeom>
            <a:avLst/>
            <a:gdLst/>
            <a:ahLst/>
            <a:cxnLst/>
            <a:rect r="r" b="b" t="t" l="l"/>
            <a:pathLst>
              <a:path h="1201428" w="1100945">
                <a:moveTo>
                  <a:pt x="1100945" y="0"/>
                </a:moveTo>
                <a:lnTo>
                  <a:pt x="0" y="0"/>
                </a:lnTo>
                <a:lnTo>
                  <a:pt x="0" y="1201428"/>
                </a:lnTo>
                <a:lnTo>
                  <a:pt x="1100945" y="1201428"/>
                </a:lnTo>
                <a:lnTo>
                  <a:pt x="110094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5400000">
            <a:off x="11291261" y="7378416"/>
            <a:ext cx="1100945" cy="1201428"/>
          </a:xfrm>
          <a:custGeom>
            <a:avLst/>
            <a:gdLst/>
            <a:ahLst/>
            <a:cxnLst/>
            <a:rect r="r" b="b" t="t" l="l"/>
            <a:pathLst>
              <a:path h="1201428" w="1100945">
                <a:moveTo>
                  <a:pt x="1100945" y="0"/>
                </a:moveTo>
                <a:lnTo>
                  <a:pt x="0" y="0"/>
                </a:lnTo>
                <a:lnTo>
                  <a:pt x="0" y="1201428"/>
                </a:lnTo>
                <a:lnTo>
                  <a:pt x="1100945" y="1201428"/>
                </a:lnTo>
                <a:lnTo>
                  <a:pt x="110094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656580" y="1499835"/>
            <a:ext cx="2974839" cy="2313440"/>
          </a:xfrm>
          <a:custGeom>
            <a:avLst/>
            <a:gdLst/>
            <a:ahLst/>
            <a:cxnLst/>
            <a:rect r="r" b="b" t="t" l="l"/>
            <a:pathLst>
              <a:path h="2313440" w="2974839">
                <a:moveTo>
                  <a:pt x="0" y="0"/>
                </a:moveTo>
                <a:lnTo>
                  <a:pt x="2974840" y="0"/>
                </a:lnTo>
                <a:lnTo>
                  <a:pt x="2974840" y="2313440"/>
                </a:lnTo>
                <a:lnTo>
                  <a:pt x="0" y="2313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9685" y="1841300"/>
            <a:ext cx="6790959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Plot Summary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09685" y="4603550"/>
            <a:ext cx="817183" cy="809011"/>
          </a:xfrm>
          <a:custGeom>
            <a:avLst/>
            <a:gdLst/>
            <a:ahLst/>
            <a:cxnLst/>
            <a:rect r="r" b="b" t="t" l="l"/>
            <a:pathLst>
              <a:path h="809011" w="817183">
                <a:moveTo>
                  <a:pt x="0" y="0"/>
                </a:moveTo>
                <a:lnTo>
                  <a:pt x="817183" y="0"/>
                </a:lnTo>
                <a:lnTo>
                  <a:pt x="817183" y="809012"/>
                </a:lnTo>
                <a:lnTo>
                  <a:pt x="0" y="809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09685" y="5617352"/>
            <a:ext cx="817183" cy="809011"/>
          </a:xfrm>
          <a:custGeom>
            <a:avLst/>
            <a:gdLst/>
            <a:ahLst/>
            <a:cxnLst/>
            <a:rect r="r" b="b" t="t" l="l"/>
            <a:pathLst>
              <a:path h="809011" w="817183">
                <a:moveTo>
                  <a:pt x="0" y="0"/>
                </a:moveTo>
                <a:lnTo>
                  <a:pt x="817183" y="0"/>
                </a:lnTo>
                <a:lnTo>
                  <a:pt x="817183" y="809011"/>
                </a:lnTo>
                <a:lnTo>
                  <a:pt x="0" y="809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542685" y="4723191"/>
            <a:ext cx="392517" cy="60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8"/>
              </a:lnSpc>
              <a:spcBef>
                <a:spcPct val="0"/>
              </a:spcBef>
            </a:pPr>
            <a:r>
              <a:rPr lang="en-US" sz="3715" strike="noStrike" u="none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685" y="5736993"/>
            <a:ext cx="392517" cy="60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8"/>
              </a:lnSpc>
              <a:spcBef>
                <a:spcPct val="0"/>
              </a:spcBef>
            </a:pPr>
            <a:r>
              <a:rPr lang="en-US" sz="3715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48688" y="4822489"/>
            <a:ext cx="7284983" cy="42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</a:pPr>
            <a:r>
              <a:rPr lang="en-US" sz="250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Part 1 — The Crime: Raskolnikov axes the pawnbroker and her sister. Cold logic shatters immediately.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8688" y="5836291"/>
            <a:ext cx="7284983" cy="42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</a:pPr>
            <a:r>
              <a:rPr lang="en-US" sz="250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Parts 2–3 — Punishment: Fever, delirium. He hides stolen goods he never uses and isolates from everyone.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9685" y="6635913"/>
            <a:ext cx="817183" cy="809011"/>
          </a:xfrm>
          <a:custGeom>
            <a:avLst/>
            <a:gdLst/>
            <a:ahLst/>
            <a:cxnLst/>
            <a:rect r="r" b="b" t="t" l="l"/>
            <a:pathLst>
              <a:path h="809011" w="817183">
                <a:moveTo>
                  <a:pt x="0" y="0"/>
                </a:moveTo>
                <a:lnTo>
                  <a:pt x="817183" y="0"/>
                </a:lnTo>
                <a:lnTo>
                  <a:pt x="817183" y="809011"/>
                </a:lnTo>
                <a:lnTo>
                  <a:pt x="0" y="809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542685" y="6755554"/>
            <a:ext cx="392517" cy="60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8"/>
              </a:lnSpc>
              <a:spcBef>
                <a:spcPct val="0"/>
              </a:spcBef>
            </a:pPr>
            <a:r>
              <a:rPr lang="en-US" sz="3715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48688" y="6854852"/>
            <a:ext cx="7284983" cy="42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</a:pPr>
            <a:r>
              <a:rPr lang="en-US" sz="250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Parts 4–5 — Confession: He reads the Lazarus story with Sonya and confesses the murder to her.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9685" y="7654474"/>
            <a:ext cx="817183" cy="809011"/>
          </a:xfrm>
          <a:custGeom>
            <a:avLst/>
            <a:gdLst/>
            <a:ahLst/>
            <a:cxnLst/>
            <a:rect r="r" b="b" t="t" l="l"/>
            <a:pathLst>
              <a:path h="809011" w="817183">
                <a:moveTo>
                  <a:pt x="0" y="0"/>
                </a:moveTo>
                <a:lnTo>
                  <a:pt x="817183" y="0"/>
                </a:lnTo>
                <a:lnTo>
                  <a:pt x="817183" y="809012"/>
                </a:lnTo>
                <a:lnTo>
                  <a:pt x="0" y="809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542685" y="7774116"/>
            <a:ext cx="392517" cy="60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8"/>
              </a:lnSpc>
              <a:spcBef>
                <a:spcPct val="0"/>
              </a:spcBef>
            </a:pPr>
            <a:r>
              <a:rPr lang="en-US" sz="3715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48688" y="7879408"/>
            <a:ext cx="7284983" cy="40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</a:pPr>
            <a:r>
              <a:rPr lang="en-US" sz="2446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Part 6 — Climax: Svidrigailov commits suicide. Porfiry confronts Raskolnikov. He confesses to police.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9685" y="8673036"/>
            <a:ext cx="817183" cy="809011"/>
          </a:xfrm>
          <a:custGeom>
            <a:avLst/>
            <a:gdLst/>
            <a:ahLst/>
            <a:cxnLst/>
            <a:rect r="r" b="b" t="t" l="l"/>
            <a:pathLst>
              <a:path h="809011" w="817183">
                <a:moveTo>
                  <a:pt x="0" y="0"/>
                </a:moveTo>
                <a:lnTo>
                  <a:pt x="817183" y="0"/>
                </a:lnTo>
                <a:lnTo>
                  <a:pt x="817183" y="809011"/>
                </a:lnTo>
                <a:lnTo>
                  <a:pt x="0" y="809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542685" y="8792677"/>
            <a:ext cx="392517" cy="60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8"/>
              </a:lnSpc>
              <a:spcBef>
                <a:spcPct val="0"/>
              </a:spcBef>
            </a:pPr>
            <a:r>
              <a:rPr lang="en-US" sz="3715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48688" y="8891975"/>
            <a:ext cx="7284983" cy="42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</a:pPr>
            <a:r>
              <a:rPr lang="en-US" sz="2509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Epilogue — Redemption: In Siberia, his arrogance slowly dies. He weeps. His humanity is reborn.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989806" y="5367247"/>
            <a:ext cx="5933542" cy="4114800"/>
          </a:xfrm>
          <a:custGeom>
            <a:avLst/>
            <a:gdLst/>
            <a:ahLst/>
            <a:cxnLst/>
            <a:rect r="r" b="b" t="t" l="l"/>
            <a:pathLst>
              <a:path h="4114800" w="5933542">
                <a:moveTo>
                  <a:pt x="0" y="0"/>
                </a:moveTo>
                <a:lnTo>
                  <a:pt x="5933542" y="0"/>
                </a:lnTo>
                <a:lnTo>
                  <a:pt x="593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1725161" y="6269874"/>
            <a:ext cx="4572114" cy="52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128"/>
              </a:lnSpc>
            </a:pPr>
            <a:r>
              <a:rPr lang="en-US" sz="2948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“Did I kill the old crone? I killed myself, not the old crone!” — Raskolnikov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92691">
            <a:off x="11615274" y="606305"/>
            <a:ext cx="4682607" cy="4445239"/>
          </a:xfrm>
          <a:custGeom>
            <a:avLst/>
            <a:gdLst/>
            <a:ahLst/>
            <a:cxnLst/>
            <a:rect r="r" b="b" t="t" l="l"/>
            <a:pathLst>
              <a:path h="4445239" w="4682607">
                <a:moveTo>
                  <a:pt x="0" y="0"/>
                </a:moveTo>
                <a:lnTo>
                  <a:pt x="4682606" y="0"/>
                </a:lnTo>
                <a:lnTo>
                  <a:pt x="4682606" y="4445240"/>
                </a:lnTo>
                <a:lnTo>
                  <a:pt x="0" y="44452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6297275" y="3127136"/>
            <a:ext cx="3981450" cy="2490216"/>
          </a:xfrm>
          <a:custGeom>
            <a:avLst/>
            <a:gdLst/>
            <a:ahLst/>
            <a:cxnLst/>
            <a:rect r="r" b="b" t="t" l="l"/>
            <a:pathLst>
              <a:path h="2490216" w="3981450">
                <a:moveTo>
                  <a:pt x="3981450" y="0"/>
                </a:moveTo>
                <a:lnTo>
                  <a:pt x="0" y="0"/>
                </a:lnTo>
                <a:lnTo>
                  <a:pt x="0" y="2490216"/>
                </a:lnTo>
                <a:lnTo>
                  <a:pt x="3981450" y="2490216"/>
                </a:lnTo>
                <a:lnTo>
                  <a:pt x="398145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8363360">
            <a:off x="9461152" y="54776"/>
            <a:ext cx="3981450" cy="1310540"/>
          </a:xfrm>
          <a:custGeom>
            <a:avLst/>
            <a:gdLst/>
            <a:ahLst/>
            <a:cxnLst/>
            <a:rect r="r" b="b" t="t" l="l"/>
            <a:pathLst>
              <a:path h="1310540" w="3981450">
                <a:moveTo>
                  <a:pt x="0" y="0"/>
                </a:moveTo>
                <a:lnTo>
                  <a:pt x="3981450" y="0"/>
                </a:lnTo>
                <a:lnTo>
                  <a:pt x="3981450" y="1310540"/>
                </a:lnTo>
                <a:lnTo>
                  <a:pt x="0" y="13105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16267" y="8384669"/>
            <a:ext cx="4118622" cy="2194103"/>
          </a:xfrm>
          <a:custGeom>
            <a:avLst/>
            <a:gdLst/>
            <a:ahLst/>
            <a:cxnLst/>
            <a:rect r="r" b="b" t="t" l="l"/>
            <a:pathLst>
              <a:path h="2194103" w="4118622">
                <a:moveTo>
                  <a:pt x="0" y="0"/>
                </a:moveTo>
                <a:lnTo>
                  <a:pt x="4118622" y="0"/>
                </a:lnTo>
                <a:lnTo>
                  <a:pt x="4118622" y="2194103"/>
                </a:lnTo>
                <a:lnTo>
                  <a:pt x="0" y="219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6815567" y="5379692"/>
            <a:ext cx="2131080" cy="1332893"/>
          </a:xfrm>
          <a:custGeom>
            <a:avLst/>
            <a:gdLst/>
            <a:ahLst/>
            <a:cxnLst/>
            <a:rect r="r" b="b" t="t" l="l"/>
            <a:pathLst>
              <a:path h="1332893" w="2131080">
                <a:moveTo>
                  <a:pt x="2131079" y="0"/>
                </a:moveTo>
                <a:lnTo>
                  <a:pt x="0" y="0"/>
                </a:lnTo>
                <a:lnTo>
                  <a:pt x="0" y="1332893"/>
                </a:lnTo>
                <a:lnTo>
                  <a:pt x="2131079" y="1332893"/>
                </a:lnTo>
                <a:lnTo>
                  <a:pt x="213107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61861" y="5118750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0" y="0"/>
                </a:moveTo>
                <a:lnTo>
                  <a:pt x="2817429" y="0"/>
                </a:lnTo>
                <a:lnTo>
                  <a:pt x="2817429" y="927389"/>
                </a:lnTo>
                <a:lnTo>
                  <a:pt x="0" y="9273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876987" y="8264078"/>
            <a:ext cx="3181488" cy="2435285"/>
          </a:xfrm>
          <a:custGeom>
            <a:avLst/>
            <a:gdLst/>
            <a:ahLst/>
            <a:cxnLst/>
            <a:rect r="r" b="b" t="t" l="l"/>
            <a:pathLst>
              <a:path h="2435285" w="3181488">
                <a:moveTo>
                  <a:pt x="3181488" y="0"/>
                </a:moveTo>
                <a:lnTo>
                  <a:pt x="0" y="0"/>
                </a:lnTo>
                <a:lnTo>
                  <a:pt x="0" y="2435285"/>
                </a:lnTo>
                <a:lnTo>
                  <a:pt x="3181488" y="2435285"/>
                </a:lnTo>
                <a:lnTo>
                  <a:pt x="318148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00150" y="7971335"/>
            <a:ext cx="3766540" cy="3252921"/>
          </a:xfrm>
          <a:custGeom>
            <a:avLst/>
            <a:gdLst/>
            <a:ahLst/>
            <a:cxnLst/>
            <a:rect r="r" b="b" t="t" l="l"/>
            <a:pathLst>
              <a:path h="3252921" w="3766540">
                <a:moveTo>
                  <a:pt x="0" y="0"/>
                </a:moveTo>
                <a:lnTo>
                  <a:pt x="3766541" y="0"/>
                </a:lnTo>
                <a:lnTo>
                  <a:pt x="3766541" y="3252921"/>
                </a:lnTo>
                <a:lnTo>
                  <a:pt x="0" y="3252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206296">
            <a:off x="-646628" y="9444939"/>
            <a:ext cx="3031695" cy="918837"/>
          </a:xfrm>
          <a:custGeom>
            <a:avLst/>
            <a:gdLst/>
            <a:ahLst/>
            <a:cxnLst/>
            <a:rect r="r" b="b" t="t" l="l"/>
            <a:pathLst>
              <a:path h="918837" w="3031695">
                <a:moveTo>
                  <a:pt x="0" y="0"/>
                </a:moveTo>
                <a:lnTo>
                  <a:pt x="3031695" y="0"/>
                </a:lnTo>
                <a:lnTo>
                  <a:pt x="3031695" y="918836"/>
                </a:lnTo>
                <a:lnTo>
                  <a:pt x="0" y="9188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6064">
            <a:off x="-260264" y="5745884"/>
            <a:ext cx="2325704" cy="3644266"/>
          </a:xfrm>
          <a:custGeom>
            <a:avLst/>
            <a:gdLst/>
            <a:ahLst/>
            <a:cxnLst/>
            <a:rect r="r" b="b" t="t" l="l"/>
            <a:pathLst>
              <a:path h="3644266" w="2325704">
                <a:moveTo>
                  <a:pt x="0" y="0"/>
                </a:moveTo>
                <a:lnTo>
                  <a:pt x="2325704" y="0"/>
                </a:lnTo>
                <a:lnTo>
                  <a:pt x="2325704" y="3644266"/>
                </a:lnTo>
                <a:lnTo>
                  <a:pt x="0" y="3644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1634412">
            <a:off x="16504408" y="7107580"/>
            <a:ext cx="3729750" cy="1986939"/>
          </a:xfrm>
          <a:custGeom>
            <a:avLst/>
            <a:gdLst/>
            <a:ahLst/>
            <a:cxnLst/>
            <a:rect r="r" b="b" t="t" l="l"/>
            <a:pathLst>
              <a:path h="1986939" w="3729750">
                <a:moveTo>
                  <a:pt x="0" y="0"/>
                </a:moveTo>
                <a:lnTo>
                  <a:pt x="3729749" y="0"/>
                </a:lnTo>
                <a:lnTo>
                  <a:pt x="3729749" y="1986939"/>
                </a:lnTo>
                <a:lnTo>
                  <a:pt x="0" y="1986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820269" y="4499285"/>
            <a:ext cx="10647462" cy="55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47"/>
              </a:lnSpc>
            </a:pPr>
            <a:r>
              <a:rPr lang="en-US" sz="3140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Crime and Punishment is the ultimate cure for intellectual arrogance. We are not machines — we have a conscience. When we believe our intellect places us above human decency, we don’t achieve greatness. We destroy our own peace of mind. True strength comes from empathy, not cold logic.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8443966">
            <a:off x="11707530" y="7838334"/>
            <a:ext cx="2108597" cy="1100304"/>
          </a:xfrm>
          <a:custGeom>
            <a:avLst/>
            <a:gdLst/>
            <a:ahLst/>
            <a:cxnLst/>
            <a:rect r="r" b="b" t="t" l="l"/>
            <a:pathLst>
              <a:path h="1100304" w="2108597">
                <a:moveTo>
                  <a:pt x="0" y="1100304"/>
                </a:moveTo>
                <a:lnTo>
                  <a:pt x="2108597" y="1100304"/>
                </a:lnTo>
                <a:lnTo>
                  <a:pt x="2108597" y="0"/>
                </a:lnTo>
                <a:lnTo>
                  <a:pt x="0" y="0"/>
                </a:lnTo>
                <a:lnTo>
                  <a:pt x="0" y="1100304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680049">
            <a:off x="5011383" y="8316160"/>
            <a:ext cx="2209635" cy="333454"/>
          </a:xfrm>
          <a:custGeom>
            <a:avLst/>
            <a:gdLst/>
            <a:ahLst/>
            <a:cxnLst/>
            <a:rect r="r" b="b" t="t" l="l"/>
            <a:pathLst>
              <a:path h="333454" w="2209635">
                <a:moveTo>
                  <a:pt x="0" y="0"/>
                </a:moveTo>
                <a:lnTo>
                  <a:pt x="2209635" y="0"/>
                </a:lnTo>
                <a:lnTo>
                  <a:pt x="2209635" y="333454"/>
                </a:lnTo>
                <a:lnTo>
                  <a:pt x="0" y="33345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5411013" y="1664887"/>
            <a:ext cx="746597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5"/>
              </a:lnSpc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Why You Should Read It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37864" y="-693867"/>
            <a:ext cx="3301076" cy="2664869"/>
          </a:xfrm>
          <a:custGeom>
            <a:avLst/>
            <a:gdLst/>
            <a:ahLst/>
            <a:cxnLst/>
            <a:rect r="r" b="b" t="t" l="l"/>
            <a:pathLst>
              <a:path h="2664869" w="3301076">
                <a:moveTo>
                  <a:pt x="0" y="0"/>
                </a:moveTo>
                <a:lnTo>
                  <a:pt x="3301076" y="0"/>
                </a:lnTo>
                <a:lnTo>
                  <a:pt x="3301076" y="2664869"/>
                </a:lnTo>
                <a:lnTo>
                  <a:pt x="0" y="266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1490716" y="8557830"/>
            <a:ext cx="3181488" cy="2435285"/>
          </a:xfrm>
          <a:custGeom>
            <a:avLst/>
            <a:gdLst/>
            <a:ahLst/>
            <a:cxnLst/>
            <a:rect r="r" b="b" t="t" l="l"/>
            <a:pathLst>
              <a:path h="2435285" w="3181488">
                <a:moveTo>
                  <a:pt x="3181488" y="0"/>
                </a:moveTo>
                <a:lnTo>
                  <a:pt x="0" y="0"/>
                </a:lnTo>
                <a:lnTo>
                  <a:pt x="0" y="2435284"/>
                </a:lnTo>
                <a:lnTo>
                  <a:pt x="3181488" y="2435284"/>
                </a:lnTo>
                <a:lnTo>
                  <a:pt x="31814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256309" y="8184825"/>
            <a:ext cx="3766540" cy="3252921"/>
          </a:xfrm>
          <a:custGeom>
            <a:avLst/>
            <a:gdLst/>
            <a:ahLst/>
            <a:cxnLst/>
            <a:rect r="r" b="b" t="t" l="l"/>
            <a:pathLst>
              <a:path h="3252921" w="3766540">
                <a:moveTo>
                  <a:pt x="0" y="0"/>
                </a:moveTo>
                <a:lnTo>
                  <a:pt x="3766541" y="0"/>
                </a:lnTo>
                <a:lnTo>
                  <a:pt x="3766541" y="3252922"/>
                </a:lnTo>
                <a:lnTo>
                  <a:pt x="0" y="3252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88570">
            <a:off x="-502966" y="-919522"/>
            <a:ext cx="4717614" cy="2624709"/>
          </a:xfrm>
          <a:custGeom>
            <a:avLst/>
            <a:gdLst/>
            <a:ahLst/>
            <a:cxnLst/>
            <a:rect r="r" b="b" t="t" l="l"/>
            <a:pathLst>
              <a:path h="2624709" w="4717614">
                <a:moveTo>
                  <a:pt x="0" y="0"/>
                </a:moveTo>
                <a:lnTo>
                  <a:pt x="4717614" y="0"/>
                </a:lnTo>
                <a:lnTo>
                  <a:pt x="4717614" y="2624709"/>
                </a:lnTo>
                <a:lnTo>
                  <a:pt x="0" y="2624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1575889">
            <a:off x="4655866" y="-484096"/>
            <a:ext cx="2333188" cy="1459303"/>
          </a:xfrm>
          <a:custGeom>
            <a:avLst/>
            <a:gdLst/>
            <a:ahLst/>
            <a:cxnLst/>
            <a:rect r="r" b="b" t="t" l="l"/>
            <a:pathLst>
              <a:path h="1459303" w="2333188">
                <a:moveTo>
                  <a:pt x="2333189" y="0"/>
                </a:moveTo>
                <a:lnTo>
                  <a:pt x="0" y="0"/>
                </a:lnTo>
                <a:lnTo>
                  <a:pt x="0" y="1459303"/>
                </a:lnTo>
                <a:lnTo>
                  <a:pt x="2333189" y="1459303"/>
                </a:lnTo>
                <a:lnTo>
                  <a:pt x="2333189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44107" y="2278378"/>
            <a:ext cx="2131080" cy="1332893"/>
          </a:xfrm>
          <a:custGeom>
            <a:avLst/>
            <a:gdLst/>
            <a:ahLst/>
            <a:cxnLst/>
            <a:rect r="r" b="b" t="t" l="l"/>
            <a:pathLst>
              <a:path h="1332893" w="2131080">
                <a:moveTo>
                  <a:pt x="2131080" y="0"/>
                </a:moveTo>
                <a:lnTo>
                  <a:pt x="0" y="0"/>
                </a:lnTo>
                <a:lnTo>
                  <a:pt x="0" y="1332893"/>
                </a:lnTo>
                <a:lnTo>
                  <a:pt x="2131080" y="1332893"/>
                </a:lnTo>
                <a:lnTo>
                  <a:pt x="213108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86302">
            <a:off x="11860075" y="-195339"/>
            <a:ext cx="2909455" cy="881789"/>
          </a:xfrm>
          <a:custGeom>
            <a:avLst/>
            <a:gdLst/>
            <a:ahLst/>
            <a:cxnLst/>
            <a:rect r="r" b="b" t="t" l="l"/>
            <a:pathLst>
              <a:path h="881789" w="2909455">
                <a:moveTo>
                  <a:pt x="0" y="0"/>
                </a:moveTo>
                <a:lnTo>
                  <a:pt x="2909455" y="0"/>
                </a:lnTo>
                <a:lnTo>
                  <a:pt x="2909455" y="881789"/>
                </a:lnTo>
                <a:lnTo>
                  <a:pt x="0" y="8817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206039" y="227837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0" y="0"/>
                </a:moveTo>
                <a:lnTo>
                  <a:pt x="2817429" y="0"/>
                </a:lnTo>
                <a:lnTo>
                  <a:pt x="2817429" y="927389"/>
                </a:lnTo>
                <a:lnTo>
                  <a:pt x="0" y="9273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false" rot="1495830">
            <a:off x="15822211" y="690668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2817429" y="0"/>
                </a:moveTo>
                <a:lnTo>
                  <a:pt x="0" y="0"/>
                </a:lnTo>
                <a:lnTo>
                  <a:pt x="0" y="927389"/>
                </a:lnTo>
                <a:lnTo>
                  <a:pt x="2817429" y="927389"/>
                </a:lnTo>
                <a:lnTo>
                  <a:pt x="2817429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873833">
            <a:off x="-4311853" y="3445067"/>
            <a:ext cx="5963772" cy="2914770"/>
          </a:xfrm>
          <a:custGeom>
            <a:avLst/>
            <a:gdLst/>
            <a:ahLst/>
            <a:cxnLst/>
            <a:rect r="r" b="b" t="t" l="l"/>
            <a:pathLst>
              <a:path h="2914770" w="5963772">
                <a:moveTo>
                  <a:pt x="0" y="0"/>
                </a:moveTo>
                <a:lnTo>
                  <a:pt x="5963773" y="0"/>
                </a:lnTo>
                <a:lnTo>
                  <a:pt x="5963773" y="2914770"/>
                </a:lnTo>
                <a:lnTo>
                  <a:pt x="0" y="29147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9206296">
            <a:off x="-160598" y="9444939"/>
            <a:ext cx="3031695" cy="918837"/>
          </a:xfrm>
          <a:custGeom>
            <a:avLst/>
            <a:gdLst/>
            <a:ahLst/>
            <a:cxnLst/>
            <a:rect r="r" b="b" t="t" l="l"/>
            <a:pathLst>
              <a:path h="918837" w="3031695">
                <a:moveTo>
                  <a:pt x="0" y="0"/>
                </a:moveTo>
                <a:lnTo>
                  <a:pt x="3031695" y="0"/>
                </a:lnTo>
                <a:lnTo>
                  <a:pt x="3031695" y="918836"/>
                </a:lnTo>
                <a:lnTo>
                  <a:pt x="0" y="9188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1005773">
            <a:off x="291328" y="6473494"/>
            <a:ext cx="1745426" cy="910795"/>
          </a:xfrm>
          <a:custGeom>
            <a:avLst/>
            <a:gdLst/>
            <a:ahLst/>
            <a:cxnLst/>
            <a:rect r="r" b="b" t="t" l="l"/>
            <a:pathLst>
              <a:path h="910795" w="1745426">
                <a:moveTo>
                  <a:pt x="0" y="0"/>
                </a:moveTo>
                <a:lnTo>
                  <a:pt x="1745426" y="0"/>
                </a:lnTo>
                <a:lnTo>
                  <a:pt x="1745426" y="910795"/>
                </a:lnTo>
                <a:lnTo>
                  <a:pt x="0" y="91079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1335842">
            <a:off x="-824265" y="6498086"/>
            <a:ext cx="2325704" cy="3644266"/>
          </a:xfrm>
          <a:custGeom>
            <a:avLst/>
            <a:gdLst/>
            <a:ahLst/>
            <a:cxnLst/>
            <a:rect r="r" b="b" t="t" l="l"/>
            <a:pathLst>
              <a:path h="3644266" w="2325704">
                <a:moveTo>
                  <a:pt x="0" y="0"/>
                </a:moveTo>
                <a:lnTo>
                  <a:pt x="2325704" y="0"/>
                </a:lnTo>
                <a:lnTo>
                  <a:pt x="2325704" y="3644265"/>
                </a:lnTo>
                <a:lnTo>
                  <a:pt x="0" y="364426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160402" y="3885067"/>
            <a:ext cx="3349629" cy="2795417"/>
          </a:xfrm>
          <a:custGeom>
            <a:avLst/>
            <a:gdLst/>
            <a:ahLst/>
            <a:cxnLst/>
            <a:rect r="r" b="b" t="t" l="l"/>
            <a:pathLst>
              <a:path h="2795417" w="3349629">
                <a:moveTo>
                  <a:pt x="0" y="0"/>
                </a:moveTo>
                <a:lnTo>
                  <a:pt x="3349628" y="0"/>
                </a:lnTo>
                <a:lnTo>
                  <a:pt x="3349628" y="2795417"/>
                </a:lnTo>
                <a:lnTo>
                  <a:pt x="0" y="27954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832525">
            <a:off x="15783977" y="8454402"/>
            <a:ext cx="3729750" cy="1986939"/>
          </a:xfrm>
          <a:custGeom>
            <a:avLst/>
            <a:gdLst/>
            <a:ahLst/>
            <a:cxnLst/>
            <a:rect r="r" b="b" t="t" l="l"/>
            <a:pathLst>
              <a:path h="1986939" w="3729750">
                <a:moveTo>
                  <a:pt x="0" y="0"/>
                </a:moveTo>
                <a:lnTo>
                  <a:pt x="3729749" y="0"/>
                </a:lnTo>
                <a:lnTo>
                  <a:pt x="3729749" y="1986940"/>
                </a:lnTo>
                <a:lnTo>
                  <a:pt x="0" y="198694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625565" y="9447872"/>
            <a:ext cx="3262436" cy="1126516"/>
          </a:xfrm>
          <a:custGeom>
            <a:avLst/>
            <a:gdLst/>
            <a:ahLst/>
            <a:cxnLst/>
            <a:rect r="r" b="b" t="t" l="l"/>
            <a:pathLst>
              <a:path h="1126516" w="3262436">
                <a:moveTo>
                  <a:pt x="0" y="0"/>
                </a:moveTo>
                <a:lnTo>
                  <a:pt x="3262436" y="0"/>
                </a:lnTo>
                <a:lnTo>
                  <a:pt x="3262436" y="1126516"/>
                </a:lnTo>
                <a:lnTo>
                  <a:pt x="0" y="112651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7216335" y="-2428860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1" y="0"/>
                </a:lnTo>
                <a:lnTo>
                  <a:pt x="4553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3502611" y="5172473"/>
            <a:ext cx="11282778" cy="60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20"/>
              </a:lnSpc>
            </a:pPr>
            <a:r>
              <a:rPr lang="en-US" sz="3624">
                <a:solidFill>
                  <a:srgbClr val="FFF9F1"/>
                </a:solidFill>
                <a:latin typeface="Special Elite"/>
                <a:ea typeface="Special Elite"/>
                <a:cs typeface="Special Elite"/>
                <a:sym typeface="Special Elite"/>
              </a:rPr>
              <a:t>Dostoevsky’s warning is timeless: when we prioritize cold logic over compassion, we step into Raskolnikov’s shoes. True progress can never be built by sacrificing our basic humanity. Salvation comes not from a brilliant mind, but from a compassionate heart.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11013" y="3047153"/>
            <a:ext cx="746597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5"/>
              </a:lnSpc>
            </a:pPr>
            <a:r>
              <a:rPr lang="en-US" sz="7500">
                <a:solidFill>
                  <a:srgbClr val="FFF9F1"/>
                </a:solidFill>
                <a:latin typeface="Chunk Five"/>
                <a:ea typeface="Chunk Five"/>
                <a:cs typeface="Chunk Five"/>
                <a:sym typeface="Chunk Five"/>
              </a:rPr>
              <a:t>Conclusions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8415" y="5164109"/>
            <a:ext cx="9582077" cy="54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0"/>
              </a:lnSpc>
            </a:pPr>
            <a:r>
              <a:rPr lang="en-US" sz="3301">
                <a:solidFill>
                  <a:srgbClr val="3D3833"/>
                </a:solidFill>
                <a:latin typeface="Special Elite"/>
                <a:ea typeface="Special Elite"/>
                <a:cs typeface="Special Elite"/>
                <a:sym typeface="Special Elite"/>
              </a:rPr>
              <a:t>Raskolnikov lives in the 21st century. In billionaires who act above moral law. In algorithms that reduce human lives to data points. Dostoevsky’s warning is timeless: true greatness is never built by sacrificing our humanity.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8415" y="1893399"/>
            <a:ext cx="901589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3D3833"/>
                </a:solidFill>
                <a:latin typeface="Chunk Five"/>
                <a:ea typeface="Chunk Five"/>
                <a:cs typeface="Chunk Five"/>
                <a:sym typeface="Chunk Five"/>
              </a:rPr>
              <a:t>Relevance Today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6243850" y="1048366"/>
            <a:ext cx="2595089" cy="1623110"/>
          </a:xfrm>
          <a:custGeom>
            <a:avLst/>
            <a:gdLst/>
            <a:ahLst/>
            <a:cxnLst/>
            <a:rect r="r" b="b" t="t" l="l"/>
            <a:pathLst>
              <a:path h="1623110" w="2595089">
                <a:moveTo>
                  <a:pt x="2595089" y="0"/>
                </a:moveTo>
                <a:lnTo>
                  <a:pt x="0" y="0"/>
                </a:lnTo>
                <a:lnTo>
                  <a:pt x="0" y="1623110"/>
                </a:lnTo>
                <a:lnTo>
                  <a:pt x="2595089" y="1623110"/>
                </a:lnTo>
                <a:lnTo>
                  <a:pt x="25950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5773">
            <a:off x="10996792" y="8739502"/>
            <a:ext cx="2894331" cy="1510314"/>
          </a:xfrm>
          <a:custGeom>
            <a:avLst/>
            <a:gdLst/>
            <a:ahLst/>
            <a:cxnLst/>
            <a:rect r="r" b="b" t="t" l="l"/>
            <a:pathLst>
              <a:path h="1510314" w="2894331">
                <a:moveTo>
                  <a:pt x="0" y="0"/>
                </a:moveTo>
                <a:lnTo>
                  <a:pt x="2894331" y="0"/>
                </a:lnTo>
                <a:lnTo>
                  <a:pt x="2894331" y="1510315"/>
                </a:lnTo>
                <a:lnTo>
                  <a:pt x="0" y="1510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00613" y="1373324"/>
            <a:ext cx="6001427" cy="6980888"/>
          </a:xfrm>
          <a:custGeom>
            <a:avLst/>
            <a:gdLst/>
            <a:ahLst/>
            <a:cxnLst/>
            <a:rect r="r" b="b" t="t" l="l"/>
            <a:pathLst>
              <a:path h="6980888" w="6001427">
                <a:moveTo>
                  <a:pt x="0" y="0"/>
                </a:moveTo>
                <a:lnTo>
                  <a:pt x="6001426" y="0"/>
                </a:lnTo>
                <a:lnTo>
                  <a:pt x="6001426" y="6980888"/>
                </a:lnTo>
                <a:lnTo>
                  <a:pt x="0" y="69808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666" t="0" r="-9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71869" y="-351168"/>
            <a:ext cx="3301076" cy="2664869"/>
          </a:xfrm>
          <a:custGeom>
            <a:avLst/>
            <a:gdLst/>
            <a:ahLst/>
            <a:cxnLst/>
            <a:rect r="r" b="b" t="t" l="l"/>
            <a:pathLst>
              <a:path h="2664869" w="3301076">
                <a:moveTo>
                  <a:pt x="0" y="0"/>
                </a:moveTo>
                <a:lnTo>
                  <a:pt x="3301077" y="0"/>
                </a:lnTo>
                <a:lnTo>
                  <a:pt x="3301077" y="2664869"/>
                </a:lnTo>
                <a:lnTo>
                  <a:pt x="0" y="266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84465" y="8477524"/>
            <a:ext cx="3181488" cy="2435285"/>
          </a:xfrm>
          <a:custGeom>
            <a:avLst/>
            <a:gdLst/>
            <a:ahLst/>
            <a:cxnLst/>
            <a:rect r="r" b="b" t="t" l="l"/>
            <a:pathLst>
              <a:path h="2435285" w="3181488">
                <a:moveTo>
                  <a:pt x="3181488" y="0"/>
                </a:moveTo>
                <a:lnTo>
                  <a:pt x="0" y="0"/>
                </a:lnTo>
                <a:lnTo>
                  <a:pt x="0" y="2435285"/>
                </a:lnTo>
                <a:lnTo>
                  <a:pt x="3181488" y="2435285"/>
                </a:lnTo>
                <a:lnTo>
                  <a:pt x="31814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00150" y="7971335"/>
            <a:ext cx="3766540" cy="3252921"/>
          </a:xfrm>
          <a:custGeom>
            <a:avLst/>
            <a:gdLst/>
            <a:ahLst/>
            <a:cxnLst/>
            <a:rect r="r" b="b" t="t" l="l"/>
            <a:pathLst>
              <a:path h="3252921" w="3766540">
                <a:moveTo>
                  <a:pt x="0" y="0"/>
                </a:moveTo>
                <a:lnTo>
                  <a:pt x="3766541" y="0"/>
                </a:lnTo>
                <a:lnTo>
                  <a:pt x="3766541" y="3252921"/>
                </a:lnTo>
                <a:lnTo>
                  <a:pt x="0" y="32529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8570">
            <a:off x="-436229" y="-483928"/>
            <a:ext cx="4717614" cy="2624709"/>
          </a:xfrm>
          <a:custGeom>
            <a:avLst/>
            <a:gdLst/>
            <a:ahLst/>
            <a:cxnLst/>
            <a:rect r="r" b="b" t="t" l="l"/>
            <a:pathLst>
              <a:path h="2624709" w="4717614">
                <a:moveTo>
                  <a:pt x="0" y="0"/>
                </a:moveTo>
                <a:lnTo>
                  <a:pt x="4717615" y="0"/>
                </a:lnTo>
                <a:lnTo>
                  <a:pt x="4717615" y="2624709"/>
                </a:lnTo>
                <a:lnTo>
                  <a:pt x="0" y="2624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934456" y="6348167"/>
            <a:ext cx="4419088" cy="1219850"/>
            <a:chOff x="0" y="0"/>
            <a:chExt cx="5892118" cy="1626467"/>
          </a:xfrm>
        </p:grpSpPr>
        <p:sp>
          <p:nvSpPr>
            <p:cNvPr name="Freeform 8" id="8"/>
            <p:cNvSpPr/>
            <p:nvPr/>
          </p:nvSpPr>
          <p:spPr>
            <a:xfrm flipH="false" flipV="false" rot="-313401">
              <a:off x="54535" y="141775"/>
              <a:ext cx="3175870" cy="1342916"/>
            </a:xfrm>
            <a:custGeom>
              <a:avLst/>
              <a:gdLst/>
              <a:ahLst/>
              <a:cxnLst/>
              <a:rect r="r" b="b" t="t" l="l"/>
              <a:pathLst>
                <a:path h="1342916" w="3175870">
                  <a:moveTo>
                    <a:pt x="0" y="0"/>
                  </a:moveTo>
                  <a:lnTo>
                    <a:pt x="3175870" y="0"/>
                  </a:lnTo>
                  <a:lnTo>
                    <a:pt x="3175870" y="1342916"/>
                  </a:lnTo>
                  <a:lnTo>
                    <a:pt x="0" y="1342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-17458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313401">
              <a:off x="3159192" y="119083"/>
              <a:ext cx="2677356" cy="1342916"/>
            </a:xfrm>
            <a:custGeom>
              <a:avLst/>
              <a:gdLst/>
              <a:ahLst/>
              <a:cxnLst/>
              <a:rect r="r" b="b" t="t" l="l"/>
              <a:pathLst>
                <a:path h="1342916" w="2677356">
                  <a:moveTo>
                    <a:pt x="0" y="0"/>
                  </a:moveTo>
                  <a:lnTo>
                    <a:pt x="2677356" y="0"/>
                  </a:lnTo>
                  <a:lnTo>
                    <a:pt x="2677356" y="1342916"/>
                  </a:lnTo>
                  <a:lnTo>
                    <a:pt x="0" y="1342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39328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true" flipV="false" rot="0">
            <a:off x="4575197" y="-351168"/>
            <a:ext cx="2333188" cy="1459303"/>
          </a:xfrm>
          <a:custGeom>
            <a:avLst/>
            <a:gdLst/>
            <a:ahLst/>
            <a:cxnLst/>
            <a:rect r="r" b="b" t="t" l="l"/>
            <a:pathLst>
              <a:path h="1459303" w="2333188">
                <a:moveTo>
                  <a:pt x="2333188" y="0"/>
                </a:moveTo>
                <a:lnTo>
                  <a:pt x="0" y="0"/>
                </a:lnTo>
                <a:lnTo>
                  <a:pt x="0" y="1459303"/>
                </a:lnTo>
                <a:lnTo>
                  <a:pt x="2333188" y="1459303"/>
                </a:lnTo>
                <a:lnTo>
                  <a:pt x="2333188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928016" y="2552174"/>
            <a:ext cx="2131080" cy="1332893"/>
          </a:xfrm>
          <a:custGeom>
            <a:avLst/>
            <a:gdLst/>
            <a:ahLst/>
            <a:cxnLst/>
            <a:rect r="r" b="b" t="t" l="l"/>
            <a:pathLst>
              <a:path h="1332893" w="2131080">
                <a:moveTo>
                  <a:pt x="2131080" y="0"/>
                </a:moveTo>
                <a:lnTo>
                  <a:pt x="0" y="0"/>
                </a:lnTo>
                <a:lnTo>
                  <a:pt x="0" y="1332893"/>
                </a:lnTo>
                <a:lnTo>
                  <a:pt x="2131080" y="1332893"/>
                </a:lnTo>
                <a:lnTo>
                  <a:pt x="213108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86302">
            <a:off x="11808618" y="-62411"/>
            <a:ext cx="2909455" cy="881789"/>
          </a:xfrm>
          <a:custGeom>
            <a:avLst/>
            <a:gdLst/>
            <a:ahLst/>
            <a:cxnLst/>
            <a:rect r="r" b="b" t="t" l="l"/>
            <a:pathLst>
              <a:path h="881789" w="2909455">
                <a:moveTo>
                  <a:pt x="0" y="0"/>
                </a:moveTo>
                <a:lnTo>
                  <a:pt x="2909455" y="0"/>
                </a:lnTo>
                <a:lnTo>
                  <a:pt x="2909455" y="881789"/>
                </a:lnTo>
                <a:lnTo>
                  <a:pt x="0" y="8817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06039" y="227837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0" y="0"/>
                </a:moveTo>
                <a:lnTo>
                  <a:pt x="2817429" y="0"/>
                </a:lnTo>
                <a:lnTo>
                  <a:pt x="2817429" y="927389"/>
                </a:lnTo>
                <a:lnTo>
                  <a:pt x="0" y="9273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1495830">
            <a:off x="14849580" y="6906688"/>
            <a:ext cx="2817429" cy="927389"/>
          </a:xfrm>
          <a:custGeom>
            <a:avLst/>
            <a:gdLst/>
            <a:ahLst/>
            <a:cxnLst/>
            <a:rect r="r" b="b" t="t" l="l"/>
            <a:pathLst>
              <a:path h="927389" w="2817429">
                <a:moveTo>
                  <a:pt x="2817430" y="0"/>
                </a:moveTo>
                <a:lnTo>
                  <a:pt x="0" y="0"/>
                </a:lnTo>
                <a:lnTo>
                  <a:pt x="0" y="927389"/>
                </a:lnTo>
                <a:lnTo>
                  <a:pt x="2817430" y="927389"/>
                </a:lnTo>
                <a:lnTo>
                  <a:pt x="281743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73833">
            <a:off x="-3803923" y="3445067"/>
            <a:ext cx="5963772" cy="2914770"/>
          </a:xfrm>
          <a:custGeom>
            <a:avLst/>
            <a:gdLst/>
            <a:ahLst/>
            <a:cxnLst/>
            <a:rect r="r" b="b" t="t" l="l"/>
            <a:pathLst>
              <a:path h="2914770" w="5963772">
                <a:moveTo>
                  <a:pt x="0" y="0"/>
                </a:moveTo>
                <a:lnTo>
                  <a:pt x="5963772" y="0"/>
                </a:lnTo>
                <a:lnTo>
                  <a:pt x="5963772" y="2914770"/>
                </a:lnTo>
                <a:lnTo>
                  <a:pt x="0" y="291477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206296">
            <a:off x="-646628" y="9444939"/>
            <a:ext cx="3031695" cy="918837"/>
          </a:xfrm>
          <a:custGeom>
            <a:avLst/>
            <a:gdLst/>
            <a:ahLst/>
            <a:cxnLst/>
            <a:rect r="r" b="b" t="t" l="l"/>
            <a:pathLst>
              <a:path h="918837" w="3031695">
                <a:moveTo>
                  <a:pt x="0" y="0"/>
                </a:moveTo>
                <a:lnTo>
                  <a:pt x="3031695" y="0"/>
                </a:lnTo>
                <a:lnTo>
                  <a:pt x="3031695" y="918836"/>
                </a:lnTo>
                <a:lnTo>
                  <a:pt x="0" y="9188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05773">
            <a:off x="1738677" y="5770587"/>
            <a:ext cx="1745426" cy="910795"/>
          </a:xfrm>
          <a:custGeom>
            <a:avLst/>
            <a:gdLst/>
            <a:ahLst/>
            <a:cxnLst/>
            <a:rect r="r" b="b" t="t" l="l"/>
            <a:pathLst>
              <a:path h="910795" w="1745426">
                <a:moveTo>
                  <a:pt x="0" y="0"/>
                </a:moveTo>
                <a:lnTo>
                  <a:pt x="1745426" y="0"/>
                </a:lnTo>
                <a:lnTo>
                  <a:pt x="1745426" y="910795"/>
                </a:lnTo>
                <a:lnTo>
                  <a:pt x="0" y="91079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746064">
            <a:off x="-260264" y="5745884"/>
            <a:ext cx="2325704" cy="3644266"/>
          </a:xfrm>
          <a:custGeom>
            <a:avLst/>
            <a:gdLst/>
            <a:ahLst/>
            <a:cxnLst/>
            <a:rect r="r" b="b" t="t" l="l"/>
            <a:pathLst>
              <a:path h="3644266" w="2325704">
                <a:moveTo>
                  <a:pt x="0" y="0"/>
                </a:moveTo>
                <a:lnTo>
                  <a:pt x="2325704" y="0"/>
                </a:lnTo>
                <a:lnTo>
                  <a:pt x="2325704" y="3644266"/>
                </a:lnTo>
                <a:lnTo>
                  <a:pt x="0" y="3644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858365" y="3787797"/>
            <a:ext cx="3745673" cy="3125935"/>
          </a:xfrm>
          <a:custGeom>
            <a:avLst/>
            <a:gdLst/>
            <a:ahLst/>
            <a:cxnLst/>
            <a:rect r="r" b="b" t="t" l="l"/>
            <a:pathLst>
              <a:path h="3125935" w="3745673">
                <a:moveTo>
                  <a:pt x="0" y="0"/>
                </a:moveTo>
                <a:lnTo>
                  <a:pt x="3745673" y="0"/>
                </a:lnTo>
                <a:lnTo>
                  <a:pt x="3745673" y="3125934"/>
                </a:lnTo>
                <a:lnTo>
                  <a:pt x="0" y="312593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-1832525">
            <a:off x="16289653" y="8281391"/>
            <a:ext cx="3729750" cy="1986939"/>
          </a:xfrm>
          <a:custGeom>
            <a:avLst/>
            <a:gdLst/>
            <a:ahLst/>
            <a:cxnLst/>
            <a:rect r="r" b="b" t="t" l="l"/>
            <a:pathLst>
              <a:path h="1986939" w="3729750">
                <a:moveTo>
                  <a:pt x="0" y="0"/>
                </a:moveTo>
                <a:lnTo>
                  <a:pt x="3729749" y="0"/>
                </a:lnTo>
                <a:lnTo>
                  <a:pt x="3729749" y="1986939"/>
                </a:lnTo>
                <a:lnTo>
                  <a:pt x="0" y="198693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3591685" y="4214882"/>
            <a:ext cx="11104629" cy="144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14"/>
              </a:lnSpc>
            </a:pPr>
            <a:r>
              <a:rPr lang="en-US" sz="9611" spc="192">
                <a:solidFill>
                  <a:srgbClr val="A46435"/>
                </a:solidFill>
                <a:latin typeface="Chunk Five"/>
                <a:ea typeface="Chunk Five"/>
                <a:cs typeface="Chunk Five"/>
                <a:sym typeface="Chunk Five"/>
              </a:rPr>
              <a:t>THANK YOU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489347" y="9723742"/>
            <a:ext cx="3262436" cy="1126516"/>
          </a:xfrm>
          <a:custGeom>
            <a:avLst/>
            <a:gdLst/>
            <a:ahLst/>
            <a:cxnLst/>
            <a:rect r="r" b="b" t="t" l="l"/>
            <a:pathLst>
              <a:path h="1126516" w="3262436">
                <a:moveTo>
                  <a:pt x="0" y="0"/>
                </a:moveTo>
                <a:lnTo>
                  <a:pt x="3262436" y="0"/>
                </a:lnTo>
                <a:lnTo>
                  <a:pt x="3262436" y="1126516"/>
                </a:lnTo>
                <a:lnTo>
                  <a:pt x="0" y="112651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DAHIszEXau0</dc:identifier>
  <dcterms:modified xsi:type="dcterms:W3CDTF">2011-08-01T06:04:30Z</dcterms:modified>
  <cp:revision>1</cp:revision>
  <dc:title>Brown Antique Illustrated Literature Class Educational Presentation</dc:title>
</cp:coreProperties>
</file>